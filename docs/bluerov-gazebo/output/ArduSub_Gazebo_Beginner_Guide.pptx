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e52e9f1b324446" /><Relationship Type="http://schemas.openxmlformats.org/officeDocument/2006/relationships/extended-properties" Target="/docProps/app.xml" Id="Raf54a2c07fe04f5b" /><Relationship Type="http://schemas.openxmlformats.org/officeDocument/2006/relationships/officeDocument" Target="/ppt/presentation.xml" Id="R82be1a2256814e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c2399ecc04b5a"/>
  </p:sldMasterIdLst>
  <p:notesMasterIdLst>
    <p:notesMasterId xmlns:r="http://schemas.openxmlformats.org/officeDocument/2006/relationships" r:id="R0c7ef93a78654c90"/>
  </p:notesMasterIdLst>
  <p:sldIdLst>
    <p:sldId xmlns:r="http://schemas.openxmlformats.org/officeDocument/2006/relationships" id="256" r:id="R3da5e64e9fd84b8c"/>
    <p:sldId xmlns:r="http://schemas.openxmlformats.org/officeDocument/2006/relationships" id="257" r:id="Rb501c3d52a06493e"/>
    <p:sldId xmlns:r="http://schemas.openxmlformats.org/officeDocument/2006/relationships" id="258" r:id="Rf87faeaec47c4a30"/>
    <p:sldId xmlns:r="http://schemas.openxmlformats.org/officeDocument/2006/relationships" id="259" r:id="Re097100c0b184785"/>
    <p:sldId xmlns:r="http://schemas.openxmlformats.org/officeDocument/2006/relationships" id="260" r:id="R439e4f51f8b94055"/>
    <p:sldId xmlns:r="http://schemas.openxmlformats.org/officeDocument/2006/relationships" id="261" r:id="R7137ebceef9d4528"/>
    <p:sldId xmlns:r="http://schemas.openxmlformats.org/officeDocument/2006/relationships" id="262" r:id="R8c4829dcc7b64b15"/>
    <p:sldId xmlns:r="http://schemas.openxmlformats.org/officeDocument/2006/relationships" id="263" r:id="R218c9b6c6c75496e"/>
    <p:sldId xmlns:r="http://schemas.openxmlformats.org/officeDocument/2006/relationships" id="264" r:id="Rab8d1216359c4403"/>
    <p:sldId xmlns:r="http://schemas.openxmlformats.org/officeDocument/2006/relationships" id="265" r:id="R98e570d938434a52"/>
    <p:sldId xmlns:r="http://schemas.openxmlformats.org/officeDocument/2006/relationships" id="266" r:id="Rbfd9d3ef32294cb4"/>
    <p:sldId xmlns:r="http://schemas.openxmlformats.org/officeDocument/2006/relationships" id="267" r:id="R85debf166bc44af8"/>
    <p:sldId xmlns:r="http://schemas.openxmlformats.org/officeDocument/2006/relationships" id="268" r:id="R365bc6c309de44d2"/>
    <p:sldId xmlns:r="http://schemas.openxmlformats.org/officeDocument/2006/relationships" id="269" r:id="R23d5ac86aeeb47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850ac46f143c5" /><Relationship Type="http://schemas.openxmlformats.org/officeDocument/2006/relationships/slideMaster" Target="/ppt/slideMasters/slideMaster1.xml" Id="R2cfc2399ecc04b5a" /><Relationship Type="http://schemas.openxmlformats.org/officeDocument/2006/relationships/notesMaster" Target="/ppt/notesMasters/notesMaster1.xml" Id="R0c7ef93a78654c90" /><Relationship Type="http://schemas.openxmlformats.org/officeDocument/2006/relationships/presProps" Target="/ppt/presProps.xml" Id="Ra83f5ecd3ef748bc" /><Relationship Type="http://schemas.openxmlformats.org/officeDocument/2006/relationships/tableStyles" Target="/ppt/tableStyles.xml" Id="Ra3b4f7a8c0094b2f" /><Relationship Type="http://schemas.openxmlformats.org/officeDocument/2006/relationships/slide" Target="/ppt/slides/slide1.xml" Id="R3da5e64e9fd84b8c" /><Relationship Type="http://schemas.openxmlformats.org/officeDocument/2006/relationships/slide" Target="/ppt/slides/slide2.xml" Id="Rb501c3d52a06493e" /><Relationship Type="http://schemas.openxmlformats.org/officeDocument/2006/relationships/slide" Target="/ppt/slides/slide3.xml" Id="Rf87faeaec47c4a30" /><Relationship Type="http://schemas.openxmlformats.org/officeDocument/2006/relationships/slide" Target="/ppt/slides/slide4.xml" Id="Re097100c0b184785" /><Relationship Type="http://schemas.openxmlformats.org/officeDocument/2006/relationships/slide" Target="/ppt/slides/slide5.xml" Id="R439e4f51f8b94055" /><Relationship Type="http://schemas.openxmlformats.org/officeDocument/2006/relationships/slide" Target="/ppt/slides/slide6.xml" Id="R7137ebceef9d4528" /><Relationship Type="http://schemas.openxmlformats.org/officeDocument/2006/relationships/slide" Target="/ppt/slides/slide7.xml" Id="R8c4829dcc7b64b15" /><Relationship Type="http://schemas.openxmlformats.org/officeDocument/2006/relationships/slide" Target="/ppt/slides/slide8.xml" Id="R218c9b6c6c75496e" /><Relationship Type="http://schemas.openxmlformats.org/officeDocument/2006/relationships/slide" Target="/ppt/slides/slide9.xml" Id="Rab8d1216359c4403" /><Relationship Type="http://schemas.openxmlformats.org/officeDocument/2006/relationships/slide" Target="/ppt/slides/slide10.xml" Id="R98e570d938434a52" /><Relationship Type="http://schemas.openxmlformats.org/officeDocument/2006/relationships/slide" Target="/ppt/slides/slide11.xml" Id="Rbfd9d3ef32294cb4" /><Relationship Type="http://schemas.openxmlformats.org/officeDocument/2006/relationships/slide" Target="/ppt/slides/slide12.xml" Id="R85debf166bc44af8" /><Relationship Type="http://schemas.openxmlformats.org/officeDocument/2006/relationships/slide" Target="/ppt/slides/slide13.xml" Id="R365bc6c309de44d2" /><Relationship Type="http://schemas.openxmlformats.org/officeDocument/2006/relationships/slide" Target="/ppt/slides/slide14.xml" Id="R23d5ac86aeeb47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3d245b0f04d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dcc6a2c9064b7a" /><Relationship Type="http://schemas.openxmlformats.org/officeDocument/2006/relationships/notesMaster" Target="/ppt/notesMasters/notesMaster1.xml" Id="R5d7baad052f444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ac186aa77e40d2" /><Relationship Type="http://schemas.openxmlformats.org/officeDocument/2006/relationships/notesMaster" Target="/ppt/notesMasters/notesMaster1.xml" Id="R2a5cf4db50ed43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bc03f759d04f34" /><Relationship Type="http://schemas.openxmlformats.org/officeDocument/2006/relationships/notesMaster" Target="/ppt/notesMasters/notesMaster1.xml" Id="Rb65dccfdeb954b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838ba20b4a47de" /><Relationship Type="http://schemas.openxmlformats.org/officeDocument/2006/relationships/notesMaster" Target="/ppt/notesMasters/notesMaster1.xml" Id="R1994c2fb895c44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994e8d71af41a8" /><Relationship Type="http://schemas.openxmlformats.org/officeDocument/2006/relationships/notesMaster" Target="/ppt/notesMasters/notesMaster1.xml" Id="R8d0b8a7e523b4f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35149c50b14aa2" /><Relationship Type="http://schemas.openxmlformats.org/officeDocument/2006/relationships/notesMaster" Target="/ppt/notesMasters/notesMaster1.xml" Id="R940cf13e7b074c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250d70287d4109" /><Relationship Type="http://schemas.openxmlformats.org/officeDocument/2006/relationships/notesMaster" Target="/ppt/notesMasters/notesMaster1.xml" Id="R806fa47686f647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d8752a1ef546b5" /><Relationship Type="http://schemas.openxmlformats.org/officeDocument/2006/relationships/notesMaster" Target="/ppt/notesMasters/notesMaster1.xml" Id="R847ab865360f47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71fad4c33c42cb" /><Relationship Type="http://schemas.openxmlformats.org/officeDocument/2006/relationships/notesMaster" Target="/ppt/notesMasters/notesMaster1.xml" Id="R99363eff9da144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d7053d63444475" /><Relationship Type="http://schemas.openxmlformats.org/officeDocument/2006/relationships/notesMaster" Target="/ppt/notesMasters/notesMaster1.xml" Id="R2a050544408d43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38ab92d1c548e5" /><Relationship Type="http://schemas.openxmlformats.org/officeDocument/2006/relationships/notesMaster" Target="/ppt/notesMasters/notesMaster1.xml" Id="Ra7a4581e5c6844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0ce6abfbd441c9" /><Relationship Type="http://schemas.openxmlformats.org/officeDocument/2006/relationships/notesMaster" Target="/ppt/notesMasters/notesMaster1.xml" Id="R5610c9ee33104e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6ee4f297e647cd" /><Relationship Type="http://schemas.openxmlformats.org/officeDocument/2006/relationships/notesMaster" Target="/ppt/notesMasters/notesMaster1.xml" Id="R168259eaa0db42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ea07e89ee7401b" /><Relationship Type="http://schemas.openxmlformats.org/officeDocument/2006/relationships/notesMaster" Target="/ppt/notesMasters/notesMaster1.xml" Id="R7ee926b0b0a542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local ArduPilot checkout and docs/bluerov-gazebo/README.md. The models are schematic teaching models, not validated physical BlueROV replicas.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/Users/rafaelgarcia/ardupilot/docs/bluerov-gazebo/README.md; /Users/rafaelgarcia/ardupilot/ArduSub; /Users/rafaelgarcia/ardupilot/libraries/SITL/SIM_JSON.cpp. SITL means software in the loop. QGroundControl is the ground control station (GCS).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/Users/rafaelgarcia/ardupilot/docs/bluerov-gazebo/README.md, especially Limits before using these models for design decisions. Generated model SDF contains mass, thruster and hydrodynamics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/Users/rafaelgarcia/ardupilot/docs/bluerov-gazebo/README.md, section How ArduSub and Gazebo are connected. The ArduPilotPlugin exchanges JSON with SITL over UDP 9012; MAVProxy uses SITL TCP 5770 and QGC UDP 14660.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/Users/rafaelgarcia/ardupilot/docs/bluerov-gazebo/README.md, Vertical-direction check after the fix. Values are from one isolated test, not calibrated thrust or speed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/Users/rafaelgarcia/ardupilot/ArduSub/mode_manual.cpp and /Users/rafaelgarcia/ardupilot/ArduSub/mode_althold.cpp. ModeManual::run passes normalized pilot throttle to the motors. ModeAlthold uses vertical position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/Users/rafaelgarcia/ardupilot/docs/bluerov-gazebo/generated/worlds/bluerov2.sdf for water density 1000 kg/m^3 and volume 0.012 m^3; /Users/rafaelgarcia/ardupilot/docs/bluerov-gazebo/generated/models/bluerov2_test/model.sdf for total mass 12 kg (11.988 kg body plus six 0.002 kg thrusters). Idealized balance; numerical drift and other forces can remain.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/Users/rafaelgarcia/ardupilot/docs/bluerov-gazebo/README.md, Run one layout on this Mac. The launcher script is /Users/rafaelgarcia/ardupilot/docs/bluerov-gazebo/launch_sitl_gui.sh. The built-in sim_vehicle.py launcher can stop other SITL processes on this Mac at exit, so the convenience script checks for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/Users/rafaelgarcia/ardupilot/Tools/autotest/locations.txt (Jervis_Bay); /Users/rafaelgarcia/ardupilot/docs/bluerov-gazebo/README.md. The generated world has no geographic terrain or shoreline.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/Users/rafaelgarcia/ardupilot/libraries/AP_Motors/AP_Motors6DOF.cpp; /Users/rafaelgarcia/ardupilot/docs/bluerov-gazebo/README.md and verify.py. BlueROV1 and Heavy rank 6; BlueROV2 rank 5 in the idealized force allocation. Static mapping passed for all three; dynamic down/up retest after the vertical correction was performed only for BlueROV2.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paths are under /Users/rafaelgarcia/ardupilot/docs/bluerov-gazebo/. In the model SDF, inspect ArduPilotPlugin, fdm_port_in, control channel, and cmd_topic. In the world SDF, inspect uniform_fluid_density and set_volume.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the named files in /Users/rafaelgarcia/ardupilot. Look for transform_manual_control_to_rc_override in joystick.cpp, ModeManual::run, ModeAlthold::run, and add_motor_raw_6dof in AP_Motors6DOF.cpp.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/Users/rafaelgarcia/ardupilot/docs/bluerov-gazebo/README.md. The steps are for the virtual vehicle only. QGC uses the separate UDP 14660 link for the Gazebo-backed SITL instance.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/Users/rafaelgarcia/ardupilot/docs/bluerov-gazebo/README.md; /Users/rafaelgarcia/ardupilot/Tools/autotest/sim_vehicle.py; /Users/rafaelgarcia/ardupilot/libraries/AP_Motors/AP_Motors6DOF.cpp. Definitions simplified for beginners.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4f54e43a942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edfbae1f140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8e15b4bb34f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52e12667843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3cea07bcd4b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e55c0d3e9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3CFE59-F390-4D7D-A2F8-26BDE54F4E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B41F70-6C51-4B11-A708-BFDCABA073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92E3C7-0B4F-4205-80C1-60354DB7F2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818A43-C845-48B1-B111-1070F4F03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63AF91-41FE-4035-A71B-005B068DFF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32271D-B72E-49E8-9937-97409425F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16E46D-91B8-4194-91BF-32CCF59B2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691A9D-5289-4154-B7A4-3FDB8A20D4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2D637F-3FCE-4933-B3E4-2EF23C993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3D032C-5940-4E90-B721-D235288FF9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f0db9fe9f24909" /><Relationship Type="http://schemas.openxmlformats.org/officeDocument/2006/relationships/slideLayout" Target="/ppt/slideLayouts/slideLayout1.xml" Id="R4f2ff2c014b8417f" /><Relationship Type="http://schemas.openxmlformats.org/officeDocument/2006/relationships/slideLayout" Target="/ppt/slideLayouts/slideLayout2.xml" Id="Re2ae89fec8e341ab" /><Relationship Type="http://schemas.openxmlformats.org/officeDocument/2006/relationships/slideLayout" Target="/ppt/slideLayouts/slideLayout3.xml" Id="R932f887635d649ec" /><Relationship Type="http://schemas.openxmlformats.org/officeDocument/2006/relationships/slideLayout" Target="/ppt/slideLayouts/slideLayout4.xml" Id="R00bec6c740994dbe" /><Relationship Type="http://schemas.openxmlformats.org/officeDocument/2006/relationships/slideLayout" Target="/ppt/slideLayouts/slideLayout5.xml" Id="Rab517b96f98f46b1" /><Relationship Type="http://schemas.openxmlformats.org/officeDocument/2006/relationships/slideLayout" Target="/ppt/slideLayouts/slideLayout6.xml" Id="Rc87f453d7dcd45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2ff2c014b8417f"/>
    <p:sldLayoutId xmlns:r="http://schemas.openxmlformats.org/officeDocument/2006/relationships" id="2147483650" r:id="Re2ae89fec8e341ab"/>
    <p:sldLayoutId xmlns:r="http://schemas.openxmlformats.org/officeDocument/2006/relationships" id="2147483651" r:id="R932f887635d649ec"/>
    <p:sldLayoutId xmlns:r="http://schemas.openxmlformats.org/officeDocument/2006/relationships" id="2147483652" r:id="R00bec6c740994dbe"/>
    <p:sldLayoutId xmlns:r="http://schemas.openxmlformats.org/officeDocument/2006/relationships" id="2147483653" r:id="Rab517b96f98f46b1"/>
    <p:sldLayoutId xmlns:r="http://schemas.openxmlformats.org/officeDocument/2006/relationships" id="2147483654" r:id="Rc87f453d7dcd45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7a654c4ba4dbf" /><Relationship Type="http://schemas.openxmlformats.org/officeDocument/2006/relationships/notesSlide" Target="/ppt/notesSlides/notesSlide1.xml" Id="Rf81ca1e4e2e844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f84db88754b12" /><Relationship Type="http://schemas.openxmlformats.org/officeDocument/2006/relationships/notesSlide" Target="/ppt/notesSlides/notesSlide2.xml" Id="R1679c09265c744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c7ade9ab74a26" /><Relationship Type="http://schemas.openxmlformats.org/officeDocument/2006/relationships/notesSlide" Target="/ppt/notesSlides/notesSlide3.xml" Id="Raf5fbc37178b47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6d5845f7484139" /><Relationship Type="http://schemas.openxmlformats.org/officeDocument/2006/relationships/notesSlide" Target="/ppt/notesSlides/notesSlide4.xml" Id="Ra072f5dd13c443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5d36cda4d4aa8" /><Relationship Type="http://schemas.openxmlformats.org/officeDocument/2006/relationships/notesSlide" Target="/ppt/notesSlides/notesSlide5.xml" Id="R3ebff58a9bf24e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e8292a8764884" /><Relationship Type="http://schemas.openxmlformats.org/officeDocument/2006/relationships/notesSlide" Target="/ppt/notesSlides/notesSlide6.xml" Id="R10f4853ee4ca4d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e6cef7d5841a3" /><Relationship Type="http://schemas.openxmlformats.org/officeDocument/2006/relationships/notesSlide" Target="/ppt/notesSlides/notesSlide7.xml" Id="Rc729f078cbc04f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eef01f3ad4994" /><Relationship Type="http://schemas.openxmlformats.org/officeDocument/2006/relationships/notesSlide" Target="/ppt/notesSlides/notesSlide8.xml" Id="Rbbadea682f724c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45826c76a4e3f" /><Relationship Type="http://schemas.openxmlformats.org/officeDocument/2006/relationships/notesSlide" Target="/ppt/notesSlides/notesSlide9.xml" Id="R83175a15926345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56da493e74496" /><Relationship Type="http://schemas.openxmlformats.org/officeDocument/2006/relationships/notesSlide" Target="/ppt/notesSlides/notesSlide10.xml" Id="R94d166c72c0143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ed0deb2ed46d6" /><Relationship Type="http://schemas.openxmlformats.org/officeDocument/2006/relationships/notesSlide" Target="/ppt/notesSlides/notesSlide11.xml" Id="R850a48d9264f4b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b0f42a9a8246fb" /><Relationship Type="http://schemas.openxmlformats.org/officeDocument/2006/relationships/notesSlide" Target="/ppt/notesSlides/notesSlide12.xml" Id="R1915f69f4b3745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41581276a470e" /><Relationship Type="http://schemas.openxmlformats.org/officeDocument/2006/relationships/notesSlide" Target="/ppt/notesSlides/notesSlide13.xml" Id="R8586b447484945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8a7f074ec4ff9" /><Relationship Type="http://schemas.openxmlformats.org/officeDocument/2006/relationships/notesSlide" Target="/ppt/notesSlides/notesSlide14.xml" Id="R0ea1881c083146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B9BCE-D9DE-4C8C-A71E-A4EE659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ArduSub + Gazebo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4C2D8-097D-459A-816D-BD0E7BE5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>
                <a:solidFill>
                  <a:srgbClr val="68D6E6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68D6E6"/>
                </a:solidFill>
                <a:latin typeface="Arial"/>
                <a:ea typeface="Arial"/>
                <a:cs typeface="Arial"/>
              </a:rPr>
              <a:t>A beginner guide to the virtual ROV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3DDF5-BA58-4173-A932-A6CC3523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C3D5D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3D5DD"/>
                </a:solidFill>
                <a:latin typeface="Arial"/>
                <a:ea typeface="Arial"/>
                <a:cs typeface="Arial"/>
              </a:rPr>
              <a:t>Controls, physics, maps, modes, and the files behind them</a:t>
            </a:r>
          </a:p>
        </p:txBody>
      </p:sp>
    </p:spTree>
    <p:extLst>
      <p:ext uri="{BB962C8B-B14F-4D97-AF65-F5344CB8AC3E}">
        <p14:creationId xmlns:p14="http://schemas.microsoft.com/office/powerpoint/2010/main" val="955225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CE18B-1EDC-4C76-95FF-EEA0404E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What each program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AC06E-410F-43F7-8DE4-678CC0E5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E1108-ADE2-4D6B-8553-0E88F3AF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82EBF-FD43-4443-8030-7C4C02A6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QGroundControl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19C1B-F79D-4388-9A20-66D43EE7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Pilot screen: virtual joystick, flight mode, map, and depth readings.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5A68D-BC88-492B-89D3-9E973A3E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D5A0B-9AE5-425B-82D9-C4C0E81B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MAVProxy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53C80-4871-4078-899B-CFAFE383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241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Relays MAVLink commands and telemetry between QGC and ArduSub.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76EB1-4A6A-48E0-A8AE-7D702CDF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3CCAC-F1D5-43E0-B3AD-414DB0CE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ArduSub SITL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07B0D-EC3D-4676-9A87-7C175906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Runs the autopilot code on your computer instead of a flight controller.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CA600-7225-4FA7-8E3F-54C29BED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59466-4907-4CA3-ADBC-874C4064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Gazebo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2056D-CE0D-4D1B-A0F4-0C32B68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2437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Applies thruster forces and computes movement in a 3D world.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8E7A7-38E1-415D-A9C1-D021FA3B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6343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EEB1B-E500-431D-83F9-922724EE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What the current model simulates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31DB6-CCA7-46A2-AD3C-A66459D1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737A5-51B8-49EF-B90A-68B05064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4DCD6-6A57-460A-8B7E-5F5C9570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0D3BB"/>
                </a:solidFill>
                <a:latin typeface="Arial"/>
                <a:ea typeface="Arial"/>
                <a:cs typeface="Arial"/>
              </a:rPr>
              <a:t>INCLUDED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385F1-D0E2-4412-8D28-03E5D5AB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D3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1699C-8F5F-40E8-881A-32FC7F5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ROV motion in water</a:t>
            </a:r>
          </a:p>
          <a:p xmlns:a="http://schemas.openxmlformats.org/drawingml/2006/main">
            <a: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Thruster forces from ESC commands</a:t>
            </a:r>
          </a:p>
          <a:p xmlns:a="http://schemas.openxmlformats.org/drawingml/2006/main">
            <a: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Buoyancy and drag</a:t>
            </a:r>
          </a:p>
          <a:p xmlns:a="http://schemas.openxmlformats.org/drawingml/2006/main">
            <a:pPr algn="l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IMU and position data sent to SITL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554B5-19AC-4A5F-BB8B-F95484AF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CC8B"/>
                </a:solidFill>
                <a:latin typeface="Arial"/>
                <a:ea typeface="Arial"/>
                <a:cs typeface="Arial"/>
              </a:rPr>
              <a:t>SIMPLIFIED OR MISSING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FE6B4-019F-401F-8B1E-531498BF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A756F-7AFC-4367-9650-FFDEED0C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Box shaped body and approximate mass</a:t>
            </a:r>
          </a:p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Placeholder drag values</a:t>
            </a:r>
          </a:p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No camera, tether, or water current</a:t>
            </a:r>
          </a:p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No embedded architecture faults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F5AE0-32E3-4AC4-8553-14BAA9CC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Use these models to learn the control path and check directions. They are not validated ROV designs.</a:t>
            </a:r>
          </a:p>
        </p:txBody>
      </p:sp>
    </p:spTree>
    <p:extLst>
      <p:ext uri="{BB962C8B-B14F-4D97-AF65-F5344CB8AC3E}">
        <p14:creationId xmlns:p14="http://schemas.microsoft.com/office/powerpoint/2010/main" val="1136756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13C7D-CEC1-4525-A35E-8373235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FA0BA-CEAA-4826-ACEA-24E2337B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56B87-A4DC-4288-A5B6-48262A23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789F9-D764-483B-9078-6ADF8864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247"/>
          </a:solidFill>
          <a:ln xmlns:a="http://schemas.openxmlformats.org/drawingml/2006/main" w="19050">
            <a:solidFill>
              <a:srgbClr val="65D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C18A9-B0EB-4CA5-B194-994B90F9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QGroundControl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934E1-2D14-4797-9A30-0677FDE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Joystick and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7486F-266F-4BF7-9CA3-758B9A97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4286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92105-9C7A-42BA-9390-A54B0C7E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00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247"/>
          </a:solidFill>
          <a:ln xmlns:a="http://schemas.openxmlformats.org/drawingml/2006/main" w="19050">
            <a:solidFill>
              <a:srgbClr val="65D6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E1302-0EA5-46BA-A41A-53A57FBC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907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MAVProxy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0896C-5835-4ACB-85E5-645DF36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MAVLink relay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8688C-85E3-4258-A901-6EA0259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4286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B8D5A-E396-47A8-9CB4-A274F8C5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247"/>
          </a:solidFill>
          <a:ln xmlns:a="http://schemas.openxmlformats.org/drawingml/2006/main" w="19050">
            <a:solidFill>
              <a:srgbClr val="65D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FEB44-0464-45A8-AC08-A969CB9E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ArduSub SITL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CADC2-0FBC-4854-B640-F42EF538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Motor mixing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26967-D87E-48C4-95B2-8EAFF5F2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4286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DB1AE-54A7-4274-B7AF-5A59F841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00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247"/>
          </a:solidFill>
          <a:ln xmlns:a="http://schemas.openxmlformats.org/drawingml/2006/main" w="19050">
            <a:solidFill>
              <a:srgbClr val="65D6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F33BD-4186-45CA-9CDF-37190EAA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Gazebo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FAB2B-AC6B-4981-B303-1DAB8B73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Forces and motion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0FE93-F684-4BDA-8590-2D189994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D3BB"/>
                </a:solidFill>
                <a:latin typeface="Arial"/>
                <a:ea typeface="Arial"/>
                <a:cs typeface="Arial"/>
              </a:rPr>
              <a:t>Gazebo sends simulated position and IMU data back to ArduSub.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70715-887F-4A09-9E1B-5E24924E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ArduSub sends MAVLink telemetry to QGroundControl.</a:t>
            </a:r>
          </a:p>
        </p:txBody>
      </p:sp>
    </p:spTree>
    <p:extLst>
      <p:ext uri="{BB962C8B-B14F-4D97-AF65-F5344CB8AC3E}">
        <p14:creationId xmlns:p14="http://schemas.microsoft.com/office/powerpoint/2010/main" val="1010354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DC0DA-F69F-4ED6-8064-C3E03547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One downward stick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AE62D-95E6-4BB5-ABF9-7D874E8C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D91F0-20C5-49A9-84C4-1A5ED31A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6B61F-9CD7-45B1-B534-6E55D496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24113-0A3B-4717-949D-218B7332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F1375-ADCF-47DC-A9C5-0EE2656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QGC sends</a:t>
            </a:r>
          </a:p>
          <a:p xmlns:a="http://schemas.openxmlformats.org/drawingml/2006/main">
            <a: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MANUAL_CONTROL z = 250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46B3D-68DC-4F20-861D-F50036CD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CCF9B-4BBD-4536-BBA1-A04CF7FE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C3A6C-183D-4051-A0BB-464B0A0F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ArduSub sees</a:t>
            </a:r>
          </a:p>
          <a:p xmlns:a="http://schemas.openxmlformats.org/drawingml/2006/main">
            <a: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RC channel 3 = 1400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3AC8D-10AC-4F29-B5F0-7C0128B7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64903-F27B-44A8-9298-D61FEFB8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28848-ECC5-4EF1-BA5C-8D43E746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Vertical motors 5 and 6</a:t>
            </a:r>
          </a:p>
          <a:p xmlns:a="http://schemas.openxmlformats.org/drawingml/2006/main">
            <a: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receive PWM 1600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65DFE-36CF-441A-B5EF-AF1354FF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668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F1FF8-B07A-45D6-871B-FA54DF66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43125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545D5-3391-4D2A-97C6-A6E79DAE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Gazebo applies force</a:t>
            </a:r>
          </a:p>
          <a:p xmlns:a="http://schemas.openxmlformats.org/drawingml/2006/main">
            <a:pPr algn="l"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and the ROV descends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DB2EF-03A6-4B3C-ADA9-2D07C6BF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5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0D3BB"/>
                </a:solidFill>
                <a:latin typeface="Arial"/>
                <a:ea typeface="Arial"/>
                <a:cs typeface="Arial"/>
              </a:rPr>
              <a:t>Measured in the isolated BlueROV2 test: altitude went from −0.01 m to −0.52 m.</a:t>
            </a:r>
          </a:p>
        </p:txBody>
      </p:sp>
    </p:spTree>
    <p:extLst>
      <p:ext uri="{BB962C8B-B14F-4D97-AF65-F5344CB8AC3E}">
        <p14:creationId xmlns:p14="http://schemas.microsoft.com/office/powerpoint/2010/main" val="1267406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B3235-BF39-451C-8245-63E67D47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Manual mode and Depth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3ADE0-DEF0-4F11-B576-6C76D15B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5E803-EDCB-456A-A804-3CF13D9A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E726F-1AF2-487C-A679-314FF8E2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42BB4-45C0-461F-BD3A-D9C267CD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8B19A-E2F5-4CCD-A52E-721AB2F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762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stick commands vertical thrust.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Release the stick: thrust returns to neutral. The ROV may stay at its new depth or drift.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5C1ED-9B90-4919-BC06-6C2F4FD9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0D3BB"/>
                </a:solidFill>
                <a:latin typeface="Arial"/>
                <a:ea typeface="Arial"/>
                <a:cs typeface="Arial"/>
              </a:rPr>
              <a:t>DEPTH 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23B8E-E709-4C35-BB50-5A9E1AFC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D3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03BBA-B8B1-4745-A84E-01076EA4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autopilot uses a depth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Release the stick: it tries to maintain the current depth.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76A84-378E-41C3-9F8B-12AADC23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CC8B"/>
                </a:solidFill>
                <a:latin typeface="Arial"/>
                <a:ea typeface="Arial"/>
                <a:cs typeface="Arial"/>
              </a:rPr>
              <a:t>Neither mode automatically returns the ROV to the surface.</a:t>
            </a:r>
          </a:p>
        </p:txBody>
      </p:sp>
    </p:spTree>
    <p:extLst>
      <p:ext uri="{BB962C8B-B14F-4D97-AF65-F5344CB8AC3E}">
        <p14:creationId xmlns:p14="http://schemas.microsoft.com/office/powerpoint/2010/main" val="816553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BA03A-270D-4958-8677-8828E41A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Why the ROV stays submerged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F3145-A028-40F7-B196-C612789B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95D45-5B2E-430E-AA20-DB1A8799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52B0A-624A-4E49-9284-5F7F852C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current Gazebo model is nearly neutrally buoyant.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999FC-6534-4453-896E-3E4D13D3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ROV mass</a:t>
            </a:r>
          </a:p>
          <a:p xmlns:a="http://schemas.openxmlformats.org/drawingml/2006/main">
            <a:pPr algn="ctr">
              <a:defRPr sz="26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12 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2BCEA-413D-4680-A2EB-5F400471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D3BB"/>
                </a:solidFill>
                <a:latin typeface="Arial"/>
                <a:ea typeface="Arial"/>
                <a:cs typeface="Arial"/>
              </a:rPr>
              <a:t>Water displaced</a:t>
            </a:r>
          </a:p>
          <a:p xmlns:a="http://schemas.openxmlformats.org/drawingml/2006/main">
            <a:pPr algn="ctr">
              <a:defRPr sz="2175" b="1">
                <a:solidFill>
                  <a:srgbClr val="70D3B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D3BB"/>
                </a:solidFill>
                <a:latin typeface="Arial"/>
                <a:ea typeface="Arial"/>
                <a:cs typeface="Arial"/>
              </a:rPr>
              <a:t>0.012 m³ × 1000 kg/m³ = 12 kg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0A3CE-9164-4EC3-85FB-20878F6C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9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5147A-A439-45A8-8B78-32D5AF5E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Weight and buoyancy approximately balance. Neutral thrust gives little reason to rise.</a:t>
            </a:r>
          </a:p>
        </p:txBody>
      </p:sp>
    </p:spTree>
    <p:extLst>
      <p:ext uri="{BB962C8B-B14F-4D97-AF65-F5344CB8AC3E}">
        <p14:creationId xmlns:p14="http://schemas.microsoft.com/office/powerpoint/2010/main" val="19236144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B3BF1-7C32-42FD-9915-A9C8399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Startup sequence on this Mac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7929A-1DF1-4E6E-8B8A-1FB0AB6A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095C1-D7BE-40B1-AE2A-BF377FD4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9BDBC-9D15-4799-9416-9A2AFD3F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1  Gazebo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BF8B4-6305-4D44-BCCE-3A71EA14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7637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Loads the generated BlueROV2 world and listens on UDP 9012.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B8C00-F9DE-4B44-886B-7CB52A6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20121-955E-45D0-89D7-069F7489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2  SITL launcher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EC4D5-61C7-4CBA-B12D-F9E59C7A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Starts ArduSub with JSON physics, vehicle ID 2, and Jervis Bay home.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6D8C2-5309-4733-96D6-BB4AEAD0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EECE8-EB9F-48A4-BE12-B92ED35E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3  MAVProxy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8E028-CE2D-4468-95EF-F2E57574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Connects to SITL on TCP 5770 and sends data to QGC on UDP 14660.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4CD67-5BE1-4ECF-B476-70392887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63916-0119-433C-AFD8-6034CAE3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4  QGC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8FF92-0BAB-4349-ACC5-66FB6B73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Connects to vehicle 2; the virtual joystick sends pilot input.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3081C-80A3-48ED-8AA5-9961582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162A7-6334-4FF7-B827-53E192A4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On macOS, the Gazebo server and Gazebo window start separately.</a:t>
            </a:r>
          </a:p>
        </p:txBody>
      </p:sp>
    </p:spTree>
    <p:extLst>
      <p:ext uri="{BB962C8B-B14F-4D97-AF65-F5344CB8AC3E}">
        <p14:creationId xmlns:p14="http://schemas.microsoft.com/office/powerpoint/2010/main" val="1019360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9EB8E-7A51-4693-9193-BDC1ABB4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QGroundControl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B65EC-B9C0-4A1F-827D-DD2892EE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FC9FC-1E73-4318-A2A5-064518F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A07AF-D15A-407A-9268-232B0E5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Home location: Jervis Bay, Australia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ABCEC-3E60-4286-A102-FEE6247B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−35.1192416°, 150.7296753°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33829-34DA-42C4-BF1E-20FE40B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23AF9-0805-49AD-8AE7-6E9BAB8C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382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map plots the latitude and longitude ArduSub reports.</a:t>
            </a:r>
          </a:p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Gazebo shows a generic ocean scene, not a 3D copy of Jervis Bay.</a:t>
            </a:r>
          </a:p>
          <a:p xmlns:a="http://schemas.openxmlformats.org/drawingml/2006/main">
            <a:pPr algn="l">
              <a:defRPr sz="187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Depth appears in telemetry; a flat map cannot show underwater scenery.</a:t>
            </a:r>
          </a:p>
        </p:txBody>
      </p:sp>
    </p:spTree>
    <p:extLst>
      <p:ext uri="{BB962C8B-B14F-4D97-AF65-F5344CB8AC3E}">
        <p14:creationId xmlns:p14="http://schemas.microsoft.com/office/powerpoint/2010/main" val="790268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E5F62-6E45-4575-B4DF-F9AF2275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three frame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1B542-2F2A-4696-AAAD-CF8597EE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CABD3-849F-4483-9718-61828EF9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56B5F-DF50-42A1-8EDA-490D77B0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BlueROV1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7C9D4-3C23-4EA8-BB62-415CD043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6 motors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15772-7F85-4889-8B24-565733C6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Six controllable axes in the idealized model; some coupling.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A714A-0FA4-413A-BD09-C40B068A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005FD-C996-43F0-A3C8-C8F1FC37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BlueROV2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8E828-9C40-418A-BFC1-9416B3B8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6 motors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31134-65E3-4C1B-BC9B-2258F5CC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No direct pitch control in the stock vectored mixer.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C6B1B-79BE-4E16-9128-42F2885F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F4ADB-414C-4FC2-9CE4-6DC84168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BlueROV2 Heavy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BF878-F4F7-4C0B-9E3F-8BD80F07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8 motors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30596-F418-417D-95A1-C1B97534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67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Four vertical thrusters add direct pitch control.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24FBD-081A-4B3E-B1B5-5CA3ACAF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BBF47-7955-42AD-8BA4-B8B3BD6B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CC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CC8B"/>
                </a:solidFill>
                <a:latin typeface="Arial"/>
                <a:ea typeface="Arial"/>
                <a:cs typeface="Arial"/>
              </a:rPr>
              <a:t>These are schematic models. Match mass, thrust curves, and drag to hardware before comparing designs.</a:t>
            </a:r>
          </a:p>
        </p:txBody>
      </p:sp>
    </p:spTree>
    <p:extLst>
      <p:ext uri="{BB962C8B-B14F-4D97-AF65-F5344CB8AC3E}">
        <p14:creationId xmlns:p14="http://schemas.microsoft.com/office/powerpoint/2010/main" val="20690359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53ECE-6270-4042-86D0-1F53695F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Code files: the Gazebo side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50E62-7FEF-486A-8712-25B788E4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E25EF-D8AA-4AA2-8BC6-5F023AC2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291AA-CFA1-433F-ACC7-1D6E058A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generated/worlds/</a:t>
            </a:r>
          </a:p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bluerov2.sdf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E558C-7591-4917-A932-58E599AA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Water density, displaced volume, and which model the world loads.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5C8E1-8357-494A-9AEC-6913EC3A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484A0-EB1F-4023-BB38-A5F40E33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generated/models/</a:t>
            </a:r>
          </a:p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bluerov2_test/model.sdf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5A5AF-65FF-47E5-AE9B-B88D1246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Thruster placement, motor topics, and the ArduPilotPlugin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F4446-AEBE-4512-B306-032900A8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DAF54-4A5C-4D8A-9747-914019FD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generate.py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4E8B4-F5F0-4C94-9281-4C41AC25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Creates the three model layouts and their parameter files.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59A17-1389-4C3A-AB65-2D85BD9A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1E2D5-C3BC-4B36-9A86-68B3F6F4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launch_sitl_gui.sh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E41DD-9B96-41E2-A424-A12A85DA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Passes Jervis Bay, JSON physics, frame parameters, and MAVProxy settings.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864D9-FEE8-4CB2-9D6A-DF129B5D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4CE97-3AA9-4839-98BB-B174E47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Open these under docs/bluerov-gazebo/</a:t>
            </a:r>
          </a:p>
        </p:txBody>
      </p:sp>
    </p:spTree>
    <p:extLst>
      <p:ext uri="{BB962C8B-B14F-4D97-AF65-F5344CB8AC3E}">
        <p14:creationId xmlns:p14="http://schemas.microsoft.com/office/powerpoint/2010/main" val="667400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4D90A-A7EB-440A-9843-1C9E338C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Code files: the ArduSub side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EE412-2302-4207-B567-708D489A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13501-3DB9-4E5E-A343-14259F4C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3A551-3779-4ABE-BF13-8DE21F0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ArduSub/joystick.cpp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DB094-970B-44E0-9B41-8FF239B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Converts MAVLink MANUAL_CONTROL into pilot channel inputs.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B1322-6408-4A32-A114-6EA8AE41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8DFC6-ED34-4B76-A924-59C80252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ArduSub/</a:t>
            </a:r>
          </a:p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mode_manual.cpp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91CCE-995C-4345-AFDD-6B682F6B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Shows what Manual mode sends to the motors.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0A6AE-699D-4038-9432-6940148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005B7-0042-48A0-AC01-AE93BFA0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ArduSub/</a:t>
            </a:r>
          </a:p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mode_althold.cpp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F389D-BEF9-4960-8773-2E452DB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Shows how Depth Hold controls vertical motion.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5F0C6-1D1C-4C81-8C8E-7D397D9C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99359-AD69-4E88-87D9-BDA87A64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libraries/AP_Motors/</a:t>
            </a:r>
          </a:p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AP_Motors6DOF.cpp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9D832-C94F-43BF-9030-44592C7B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386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Defines the motor mixing factors for each frame.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E008C-E7AB-4850-9174-63B07ADF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7BFBC-1134-44C1-A771-B1A19798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D3B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0D3BB"/>
                </a:solidFill>
                <a:latin typeface="Arial"/>
                <a:ea typeface="Arial"/>
                <a:cs typeface="Arial"/>
              </a:rPr>
              <a:t>Also inspect libraries/SITL/SIM_JSON.cpp for the external physics data exchange.</a:t>
            </a:r>
          </a:p>
        </p:txBody>
      </p:sp>
    </p:spTree>
    <p:extLst>
      <p:ext uri="{BB962C8B-B14F-4D97-AF65-F5344CB8AC3E}">
        <p14:creationId xmlns:p14="http://schemas.microsoft.com/office/powerpoint/2010/main" val="427880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C228C-EAD9-411A-AB68-CEE110F1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A short exercise to 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C7ECA-A61F-4D1B-9D5E-07FB5E25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3A1EB-A4D8-4C24-A65B-5A6B49D2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85367-A5BA-4CBC-863B-FDA5CB60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1 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0CDAC-562D-4784-AC17-E4DE9D72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Run Gazebo, then the SITL launcher, then connect QGC to vehicle 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EAEE2-0B6B-49E0-975F-B59B1F53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7B777-41C9-4C48-82D6-08BE77DF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2  Dive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F5B46-4FD8-4427-8340-8B9ADB86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In Manual, move the depth stick down briefly and watch altitude fall.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49930-4FFA-47FA-A280-41F768DC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CB025-1118-42CA-9AA3-BAAD76A7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3 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EFED5-37FE-438D-9970-BDCE7136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Let the stick center. Notice that the ROV stays near its new depth.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285E3-DD70-44FF-BB6F-E10EF4D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B3C95-8399-4E45-91C3-680E1F1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4  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8CBBF-9F86-41BD-8082-3D02923C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291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Switch to Depth Hold. Move slightly, release, and watch it hold depth.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B4325-1033-48FA-A559-EBE3E2CC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F66FF-6BAD-4168-B7C0-9D0FC76F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Change one setting at a time and write down what the telemetry actually shows.</a:t>
            </a:r>
          </a:p>
        </p:txBody>
      </p:sp>
    </p:spTree>
    <p:extLst>
      <p:ext uri="{BB962C8B-B14F-4D97-AF65-F5344CB8AC3E}">
        <p14:creationId xmlns:p14="http://schemas.microsoft.com/office/powerpoint/2010/main" val="16804392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1E7EE-AB53-45C9-A5AC-6B19D094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A"/>
                </a:solidFill>
                <a:latin typeface="Arial"/>
                <a:ea typeface="Arial"/>
                <a:cs typeface="Arial"/>
              </a:rPr>
              <a:t>Terms to remember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33ED4-2949-4B68-8254-58D7E791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E54B5-777A-406F-96A4-B86F89F7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B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D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8B792-C617-4558-BAFB-3D389B49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SITL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9D308-CBAD-4779-8EF3-9003D7CC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Software in the loop: ArduSub runs on the computer.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B2821-F76E-495E-A297-B41FC2A7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3A965-8D36-4159-AFE3-1B0756D6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MAVLink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133A8-E675-4FFF-96C2-0BA334A4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Messages carrying pilot commands and vehicle telemetry.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4505F-9B94-44A9-A474-0808DC3C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509C1-047F-410A-8A1D-B79BD34A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66543-D8B8-4A16-8226-613AFE89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motor layout and mixing rules ArduSub uses.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5E138-43BB-4AEA-9181-4F8C4D38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15B50-898A-4682-93D0-88107EF9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5D6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8"/>
                </a:solidFill>
                <a:latin typeface="Arial"/>
                <a:ea typeface="Arial"/>
                <a:cs typeface="Arial"/>
              </a:rPr>
              <a:t>SDF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1591C-6E6C-4380-BB0E-B3B7C9C3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96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4F8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8FA"/>
                </a:solidFill>
                <a:latin typeface="Arial"/>
                <a:ea typeface="Arial"/>
                <a:cs typeface="Arial"/>
              </a:rPr>
              <a:t>The file format that describes a Gazebo world or model.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33102-C6E3-45E9-9B19-BCAB08AB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6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6974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2026-10-24T17:27:57.0340000Z</dcterms:created>
  <dcterms:modified xsi:type="dcterms:W3CDTF">2026-10-24T17:27:57.0340000Z</dcterms:modified>
</coreProperties>
</file>