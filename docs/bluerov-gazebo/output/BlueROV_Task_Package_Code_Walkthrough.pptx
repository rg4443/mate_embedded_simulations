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7740e345da4d89" /><Relationship Type="http://schemas.openxmlformats.org/officeDocument/2006/relationships/extended-properties" Target="/docProps/app.xml" Id="Re68584d5deb34a85" /><Relationship Type="http://schemas.openxmlformats.org/officeDocument/2006/relationships/officeDocument" Target="/ppt/presentation.xml" Id="R807cffdeeb0043b6" /></Relationships>
</file>

<file path=ppt/presentation.xml><?xml version="1.0" encoding="utf-8"?>
<p:presentation xmlns:p="http://schemas.openxmlformats.org/presentationml/2006/main">
  <p:sldMasterIdLst>
    <p:sldMasterId xmlns:r="http://schemas.openxmlformats.org/officeDocument/2006/relationships" id="2147483648" r:id="R6681ff12ed9748f7"/>
  </p:sldMasterIdLst>
  <p:notesMasterIdLst>
    <p:notesMasterId xmlns:r="http://schemas.openxmlformats.org/officeDocument/2006/relationships" r:id="R14e97af818a64a60"/>
  </p:notesMasterIdLst>
  <p:sldIdLst>
    <p:sldId xmlns:r="http://schemas.openxmlformats.org/officeDocument/2006/relationships" id="256" r:id="Rb4f86994a8c443d7"/>
    <p:sldId xmlns:r="http://schemas.openxmlformats.org/officeDocument/2006/relationships" id="257" r:id="R96d5c4bacf8d428e"/>
    <p:sldId xmlns:r="http://schemas.openxmlformats.org/officeDocument/2006/relationships" id="258" r:id="R7d1bfa2443164faf"/>
    <p:sldId xmlns:r="http://schemas.openxmlformats.org/officeDocument/2006/relationships" id="259" r:id="R08c5a17a344b4790"/>
    <p:sldId xmlns:r="http://schemas.openxmlformats.org/officeDocument/2006/relationships" id="260" r:id="R816dd7bf5bb1452d"/>
    <p:sldId xmlns:r="http://schemas.openxmlformats.org/officeDocument/2006/relationships" id="261" r:id="R1c86220030464c94"/>
    <p:sldId xmlns:r="http://schemas.openxmlformats.org/officeDocument/2006/relationships" id="262" r:id="Re6ea20e04bff4227"/>
    <p:sldId xmlns:r="http://schemas.openxmlformats.org/officeDocument/2006/relationships" id="263" r:id="R3e8c7842828642a8"/>
    <p:sldId xmlns:r="http://schemas.openxmlformats.org/officeDocument/2006/relationships" id="264" r:id="R7204e3b966ed4d5a"/>
    <p:sldId xmlns:r="http://schemas.openxmlformats.org/officeDocument/2006/relationships" id="265" r:id="R4954db0b944d47a2"/>
    <p:sldId xmlns:r="http://schemas.openxmlformats.org/officeDocument/2006/relationships" id="266" r:id="R8ee458944cdb4184"/>
    <p:sldId xmlns:r="http://schemas.openxmlformats.org/officeDocument/2006/relationships" id="267" r:id="Rd532ad1bd53e48f4"/>
    <p:sldId xmlns:r="http://schemas.openxmlformats.org/officeDocument/2006/relationships" id="268" r:id="R90b55f4a5f004bf4"/>
    <p:sldId xmlns:r="http://schemas.openxmlformats.org/officeDocument/2006/relationships" id="269" r:id="R62a7e54f9cc94a8a"/>
    <p:sldId xmlns:r="http://schemas.openxmlformats.org/officeDocument/2006/relationships" id="270" r:id="Rb96c50850e8c4c8c"/>
    <p:sldId xmlns:r="http://schemas.openxmlformats.org/officeDocument/2006/relationships" id="271" r:id="R9dbbe6d859974703"/>
    <p:sldId xmlns:r="http://schemas.openxmlformats.org/officeDocument/2006/relationships" id="272" r:id="R43ef576f75c345b0"/>
    <p:sldId xmlns:r="http://schemas.openxmlformats.org/officeDocument/2006/relationships" id="273" r:id="R08f7cdd82c3a442b"/>
    <p:sldId xmlns:r="http://schemas.openxmlformats.org/officeDocument/2006/relationships" id="274" r:id="R6e5bc09b882b40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be6f43bb7b4f8a" /><Relationship Type="http://schemas.openxmlformats.org/officeDocument/2006/relationships/slideMaster" Target="/ppt/slideMasters/slideMaster1.xml" Id="R6681ff12ed9748f7" /><Relationship Type="http://schemas.openxmlformats.org/officeDocument/2006/relationships/notesMaster" Target="/ppt/notesMasters/notesMaster1.xml" Id="R14e97af818a64a60" /><Relationship Type="http://schemas.openxmlformats.org/officeDocument/2006/relationships/presProps" Target="/ppt/presProps.xml" Id="Rf25bcea0aa0b42ca" /><Relationship Type="http://schemas.openxmlformats.org/officeDocument/2006/relationships/tableStyles" Target="/ppt/tableStyles.xml" Id="R2aa85fe714a44628" /><Relationship Type="http://schemas.openxmlformats.org/officeDocument/2006/relationships/slide" Target="/ppt/slides/slide1.xml" Id="Rb4f86994a8c443d7" /><Relationship Type="http://schemas.openxmlformats.org/officeDocument/2006/relationships/slide" Target="/ppt/slides/slide2.xml" Id="R96d5c4bacf8d428e" /><Relationship Type="http://schemas.openxmlformats.org/officeDocument/2006/relationships/slide" Target="/ppt/slides/slide3.xml" Id="R7d1bfa2443164faf" /><Relationship Type="http://schemas.openxmlformats.org/officeDocument/2006/relationships/slide" Target="/ppt/slides/slide4.xml" Id="R08c5a17a344b4790" /><Relationship Type="http://schemas.openxmlformats.org/officeDocument/2006/relationships/slide" Target="/ppt/slides/slide5.xml" Id="R816dd7bf5bb1452d" /><Relationship Type="http://schemas.openxmlformats.org/officeDocument/2006/relationships/slide" Target="/ppt/slides/slide6.xml" Id="R1c86220030464c94" /><Relationship Type="http://schemas.openxmlformats.org/officeDocument/2006/relationships/slide" Target="/ppt/slides/slide7.xml" Id="Re6ea20e04bff4227" /><Relationship Type="http://schemas.openxmlformats.org/officeDocument/2006/relationships/slide" Target="/ppt/slides/slide8.xml" Id="R3e8c7842828642a8" /><Relationship Type="http://schemas.openxmlformats.org/officeDocument/2006/relationships/slide" Target="/ppt/slides/slide9.xml" Id="R7204e3b966ed4d5a" /><Relationship Type="http://schemas.openxmlformats.org/officeDocument/2006/relationships/slide" Target="/ppt/slides/slide10.xml" Id="R4954db0b944d47a2" /><Relationship Type="http://schemas.openxmlformats.org/officeDocument/2006/relationships/slide" Target="/ppt/slides/slide11.xml" Id="R8ee458944cdb4184" /><Relationship Type="http://schemas.openxmlformats.org/officeDocument/2006/relationships/slide" Target="/ppt/slides/slide12.xml" Id="Rd532ad1bd53e48f4" /><Relationship Type="http://schemas.openxmlformats.org/officeDocument/2006/relationships/slide" Target="/ppt/slides/slide13.xml" Id="R90b55f4a5f004bf4" /><Relationship Type="http://schemas.openxmlformats.org/officeDocument/2006/relationships/slide" Target="/ppt/slides/slide14.xml" Id="R62a7e54f9cc94a8a" /><Relationship Type="http://schemas.openxmlformats.org/officeDocument/2006/relationships/slide" Target="/ppt/slides/slide15.xml" Id="Rb96c50850e8c4c8c" /><Relationship Type="http://schemas.openxmlformats.org/officeDocument/2006/relationships/slide" Target="/ppt/slides/slide16.xml" Id="R9dbbe6d859974703" /><Relationship Type="http://schemas.openxmlformats.org/officeDocument/2006/relationships/slide" Target="/ppt/slides/slide17.xml" Id="R43ef576f75c345b0" /><Relationship Type="http://schemas.openxmlformats.org/officeDocument/2006/relationships/slide" Target="/ppt/slides/slide18.xml" Id="R08f7cdd82c3a442b" /><Relationship Type="http://schemas.openxmlformats.org/officeDocument/2006/relationships/slide" Target="/ppt/slides/slide19.xml" Id="R6e5bc09b882b40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6388d4b2ac40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84f06ef747496a" /><Relationship Type="http://schemas.openxmlformats.org/officeDocument/2006/relationships/notesMaster" Target="/ppt/notesMasters/notesMaster1.xml" Id="R36c8e32585ad40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637c5a859849d1" /><Relationship Type="http://schemas.openxmlformats.org/officeDocument/2006/relationships/notesMaster" Target="/ppt/notesMasters/notesMaster1.xml" Id="Rc33fd8eb772541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f17363861942d6" /><Relationship Type="http://schemas.openxmlformats.org/officeDocument/2006/relationships/notesMaster" Target="/ppt/notesMasters/notesMaster1.xml" Id="Rcf74e654758449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80b31893b84233" /><Relationship Type="http://schemas.openxmlformats.org/officeDocument/2006/relationships/notesMaster" Target="/ppt/notesMasters/notesMaster1.xml" Id="Re4054f9ffd43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ba81ef0c8e4101" /><Relationship Type="http://schemas.openxmlformats.org/officeDocument/2006/relationships/notesMaster" Target="/ppt/notesMasters/notesMaster1.xml" Id="Rd78d946f17914e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6bc66e16a448ec" /><Relationship Type="http://schemas.openxmlformats.org/officeDocument/2006/relationships/notesMaster" Target="/ppt/notesMasters/notesMaster1.xml" Id="R33fc324c897648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b03c8e2c2b4acb" /><Relationship Type="http://schemas.openxmlformats.org/officeDocument/2006/relationships/notesMaster" Target="/ppt/notesMasters/notesMaster1.xml" Id="R0f50cb85fe6d4b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e6ba432110467d" /><Relationship Type="http://schemas.openxmlformats.org/officeDocument/2006/relationships/notesMaster" Target="/ppt/notesMasters/notesMaster1.xml" Id="Re3415b793bf84a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2e20f360a94ba3" /><Relationship Type="http://schemas.openxmlformats.org/officeDocument/2006/relationships/notesMaster" Target="/ppt/notesMasters/notesMaster1.xml" Id="Rbef1e49efff642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9860fb98e7403a" /><Relationship Type="http://schemas.openxmlformats.org/officeDocument/2006/relationships/notesMaster" Target="/ppt/notesMasters/notesMaster1.xml" Id="R974106e2d2174d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a7d9feefc546ad" /><Relationship Type="http://schemas.openxmlformats.org/officeDocument/2006/relationships/notesMaster" Target="/ppt/notesMasters/notesMaster1.xml" Id="Ra0ab35b7e9914f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f30ce6963c43cb" /><Relationship Type="http://schemas.openxmlformats.org/officeDocument/2006/relationships/notesMaster" Target="/ppt/notesMasters/notesMaster1.xml" Id="R4310432114f543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777656b9e74204" /><Relationship Type="http://schemas.openxmlformats.org/officeDocument/2006/relationships/notesMaster" Target="/ppt/notesMasters/notesMaster1.xml" Id="R27c10f699a3f4b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48890626ad493c" /><Relationship Type="http://schemas.openxmlformats.org/officeDocument/2006/relationships/notesMaster" Target="/ppt/notesMasters/notesMaster1.xml" Id="R46d98907677047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f9f094751948d5" /><Relationship Type="http://schemas.openxmlformats.org/officeDocument/2006/relationships/notesMaster" Target="/ppt/notesMasters/notesMaster1.xml" Id="Rd1f6cd00b33c42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930f44a09f48aa" /><Relationship Type="http://schemas.openxmlformats.org/officeDocument/2006/relationships/notesMaster" Target="/ppt/notesMasters/notesMaster1.xml" Id="Rae90033a08544c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3ea74986554963" /><Relationship Type="http://schemas.openxmlformats.org/officeDocument/2006/relationships/notesMaster" Target="/ppt/notesMasters/notesMaster1.xml" Id="R7bb4f1c8453546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0b169b09ab44e3" /><Relationship Type="http://schemas.openxmlformats.org/officeDocument/2006/relationships/notesMaster" Target="/ppt/notesMasters/notesMaster1.xml" Id="R20e66e1c0a344f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9e8acd5de64361" /><Relationship Type="http://schemas.openxmlformats.org/officeDocument/2006/relationships/notesMaster" Target="/ppt/notesMasters/notesMaster1.xml" Id="R08ea07a9160e4f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nine staged files in /Users/rafaelgarcia/ardupilot, inspected on the local main branch. This deck explains the current staging area, not every file in the repository. The package provides schematic BlueROV models for learning and preliminary comparisons. Nothing in the slide deck establishes real ROV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docs/bluerov-gazebo/generate.py, run_gazebo_mac.sh, launch_sitl_gui.sh. QGroundControl sends pilot commands to ArduSub. ArduSub runs the same autopilot control code used in SITL and produces motor outputs. The ArduPilot Gazebo connector publishes those outputs to Gazebo motor topics and returns simulated pose, velocity, and IMU readings. Gazebo calculates model motion. Each program can run on the same Mac; separate Terminal windows do not mean separate computers. The model is schematic, so the result is a controlled software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git diff --cached --name-only. Four files build or check the model, two files start the simulation, two are dependency patches, and one is a historical Beaumont helper. The helper is not called by the current BlueROV path. .gitignore prevents local builds and generated worlds from being staged.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docs/bluerov-gazebo/.gitignore. The four rules exclude generated/, .local/, .deck-build/, and __pycache__/ only under the BlueROV package directory. generated/ is excluded because each SDF contains an absolute path to a locally built connector library. .local/ holds external cloned sources and compiled plugins. .deck-build/ holds temporary slide authoring files. __pycache__/ is Python's bytecode cache. This file does not ignore the generator or launcher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docs/bluerov-gazebo/prepare_mac.sh lines 1–29. set -euo pipefail stops on failed commands, undefined variables, and failed pipeline elements. The script computes repo_root from its own location so it can be called from another directory. It checks macOS, required commands, and an existing ArduSub SITL binary. It refuses to overwrite generated worlds. This protects a working local setup but means a member must move an old generated/ directory aside before a new preparation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docs/bluerov-gazebo/prepare_mac.sh lines 31–73. It clones rov-sim at 3597a5c and ardupilot_gazebo at 082a0fe into ignored .local/. It applies the two patches and verifies their reverse application to detect mismatched local checkouts. It builds the Gazebo buoyancy, hydrodynamics, and thruster plugins plus ArduPilotPlugin. It calls generate.py to write worlds/models/parameter files and verify.py to check the result. The pinned revisions help repeat the experiment, but the full setup script has not been re-run from a fresh Mac in this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docs/bluerov-gazebo/rov-sim-macos.patch. This patch adds find_package(Qt5 REQUIRED COMPONENTS Core Gui Widgets) to the pinned rov-sim CMakeLists.txt before gz-sim8 is found. It is applied to the private .local/rov-sim checkout, not to this ArduPilot repository. On the tested Mac, it supplies an explicit Qt dependency for CMake configuration. It does not change thruster physics or the ROV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docs/beaumont-ardupilot-gazebo-test.patch. The patch adds an Int32 Gazebo message include and changes the COMMAND publisher from msgs::Double to msgs::Int32, rounding the command value. The EER_Thruster subscriber expects integer ESC values, so the message types must match for a motor topic to receive commands. The patch also makes Qt explicit and removes the connector's unrelated camera plugin build requirement for this local Mac build. It is still named after the first Beaumont experiment, but prepare_mac.sh requires it for BlueROV.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docs/bluerov-gazebo/generate.py lines 13–79. FRAMES holds the frame configuration number, six motor mixing factors per motor, and schematic motor positions for BlueROV1, BlueROV2, and Heavy. The factors are roll, pitch, yaw, throttle, forward, lateral in ArduSub motor order. BlueROV1 and BlueROV2 have six thrusters; Heavy has eight. This is a map between autopilot output numbers and Gazebo geometry, not measured hardware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docs/bluerov-gazebo/generate.py lines 98–159. ArduSub's body coordinates use x forward, y right, z down. The generated Gazebo model uses x forward, y left, z up. add_thruster converts positions and sets a joint orientation so the local +Z axis points along the intended thrust direction. motor_axis accounts for the ESC curve's command-to-force polarity. This is why a sign error can make a dive command raise the Gazebo vehicle. The static verifier checks each generated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docs/bluerov-gazebo/generate.py lines 160–303. The script writes a model.sdf for each ROV, a model.config, a world SDF, and a .parm file. The model includes a box body, IMU, thruster links, EER_Hydrodynamics, and ArduPilotPlugin. The world includes physics, buoyancy, and the model at a starting pose. The parameter file sets FRAME_CONFIG. The connector block maps ArduSub channel 0 to Gazebo motor_1, because connector channels start at zero while ArduSub motor numbers start at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docs/bluerov-gazebo/generate.py lines 187–280 and the source package README. The body is a simple box, nominal mass is 12 kg, displaced water volume is 0.012 m³, drag coefficients are shared placeholders, and motor locations are schematic. The code hardcodes EER plugin filenames ending in .dylib and writes an absolute path to the locally built connector. This is why generated SDFs are ignored by Git. The file can establish command direction and controlled comparisons under those assumptions, not final real-vehicle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docs/bluerov-gazebo/verify.py lines 15–33 and 100–112. SOURCE_CASES maps each BlueROV model to its ArduSub source-code case. source_factors slices AP_Motors6DOF.cpp text and parses add_motor_raw_6dof calls. The script then compares the parsed factors with generate.FRAMES. This catches a generator table that no longer agrees with the checked-out ArduSub mixer. The parser depends on C++ text layout and should be updated if the source format changes. The checks use Python assert, so run normally without python -O.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docs/bluerov-gazebo/verify.py lines 35–99. For each generated model, verify_frame checks the number and order of connector controls, topic names, thruster plugins, joint positions, and rotated axes. It calculates an idealized six-component force-and-torque vector from each motor, then finds matrix rank. Expected ranks are 6 for BlueROV1 and Heavy and 5 for BlueROV2. Rank means mathematically independent motion directions in this simplified model. It does not measure control quality, stability, speed, current draw, or real hydrodynamics.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docs/bluerov-gazebo/run_gazebo_mac.sh lines 1–35. The script accepts one of three layouts and a part argument, server or gui. It checks that the selected world and rov-sim thruster plugin exist. It sets GZ_IP to loopback, a layout-specific GZ_PARTITION, and the model resource path. The server branch adds the rov-sim system plugin path and runs gz sim -s -r, which starts physics immediately. The gui branch runs gz sim -g. On macOS these are separate commands for the same simulation. The script does not start SITL.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docs/bluerov-gazebo/launch_sitl_gui.sh lines 1–64. The layout selects ArduSub frame and base parameter file. The script checks .venv/bin/python, refuses to run if another SITL vehicle process is present, checks the generated parameter file, then calls sim_vehicle.py with --model JSON. -I1 matches the connector on UDP 9012. --sysid 2 identifies this vehicle in QGroundControl. -L Jervis_Bay sets the map origin. --out 127.0.0.1:14660 sends MAVLink to QGroundControl. --use-dir stores logs in a layout-specific temporary directory. The GUI still requires the user to click Launch SITL.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docs/beaumont-gazebo-prepare-test.py lines 1–95. This script copies the original Beaumont model and world to an isolated output directory, changes the world include URI, removes an explicit IMU topic, and inserts an ArduPilotPlugin block with eight controls. It proves a connector can exchange motor and sensor messages with Beaumont, but those motors do not match a stock BlueROV frame. Nothing in prepare_mac.sh, generate.py, or the BlueROV launchers calls this file. It is the one staged file that can be unstaged if the GitHub package should contain only the BlueROV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docs/bluerov-gazebo/prepare_mac.sh, run_gazebo_mac.sh, launch_sitl_gui.sh, generate.py, verify.py. First build ArduSub SITL, then prepare local dependencies and generated worlds. Start Gazebo server and optionally its GUI in separate terminals, then launch SITL and QGroundControl. Select vehicle 2 and port 14660 in QGroundControl. Use Manual mode, arm, issue one short movement, release, and disarm. Save the SITL BIN log and Gazebo pose recording under a trial ID. Repeat under the same assumed physical parameters for other layouts. These steps are for software simulation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all nine staged files. The current code is appropriate for a preliminary software comparison, with limits: the full fresh Mac preparation script was not rerun in this pass; dynamic vertical checks previously covered BlueROV2 while BlueROV1 and Heavy still need direct motion checks; model dimensions and hydrodynamics are placeholders; the verification source parser is text-sensitive; and the Beaumont helper is historical. A further limitation is that generated/ is ignored and must be recreated on each Mac. No Windows integrated route was verified. These are review findings, not claims that the code is unsafe for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f1b61aa0db4a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cc6983cac146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a1387594bf4c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1bdbd906d041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6474c1d2e843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86e9f8bb5e44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D934DB-CB79-44B1-AD69-F7C1EFD936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938B66-1D3E-466F-B3A2-F8C607BBDC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055F44-78B4-4F67-9E2F-F291EB8B54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3A185-EAF1-4AB3-9D59-70A3EB08E5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5A773B-4A4C-4DB0-8781-826F6E1B35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9B9E09-6557-451F-81AC-AFAE8682DE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851693-13F2-43E9-9F73-C437863077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BC1590-01C3-4BD5-8018-331A68C091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43D86D-0AC2-4D8A-87BA-E1DEE53305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78BFC9-308D-420D-9A34-960CE88FEC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16d9c1a3a24768" /><Relationship Type="http://schemas.openxmlformats.org/officeDocument/2006/relationships/slideLayout" Target="/ppt/slideLayouts/slideLayout1.xml" Id="R01fcf1cf31264cfa" /><Relationship Type="http://schemas.openxmlformats.org/officeDocument/2006/relationships/slideLayout" Target="/ppt/slideLayouts/slideLayout2.xml" Id="R82cbe944021a482e" /><Relationship Type="http://schemas.openxmlformats.org/officeDocument/2006/relationships/slideLayout" Target="/ppt/slideLayouts/slideLayout3.xml" Id="Re3659a77d2804267" /><Relationship Type="http://schemas.openxmlformats.org/officeDocument/2006/relationships/slideLayout" Target="/ppt/slideLayouts/slideLayout4.xml" Id="R5522e6db05f949dd" /><Relationship Type="http://schemas.openxmlformats.org/officeDocument/2006/relationships/slideLayout" Target="/ppt/slideLayouts/slideLayout5.xml" Id="R871f8cc328cb4a37" /><Relationship Type="http://schemas.openxmlformats.org/officeDocument/2006/relationships/slideLayout" Target="/ppt/slideLayouts/slideLayout6.xml" Id="Rae2ed3530fad46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fcf1cf31264cfa"/>
    <p:sldLayoutId xmlns:r="http://schemas.openxmlformats.org/officeDocument/2006/relationships" id="2147483650" r:id="R82cbe944021a482e"/>
    <p:sldLayoutId xmlns:r="http://schemas.openxmlformats.org/officeDocument/2006/relationships" id="2147483651" r:id="Re3659a77d2804267"/>
    <p:sldLayoutId xmlns:r="http://schemas.openxmlformats.org/officeDocument/2006/relationships" id="2147483652" r:id="R5522e6db05f949dd"/>
    <p:sldLayoutId xmlns:r="http://schemas.openxmlformats.org/officeDocument/2006/relationships" id="2147483653" r:id="R871f8cc328cb4a37"/>
    <p:sldLayoutId xmlns:r="http://schemas.openxmlformats.org/officeDocument/2006/relationships" id="2147483654" r:id="Rae2ed3530fad46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c531075864149" /><Relationship Type="http://schemas.openxmlformats.org/officeDocument/2006/relationships/notesSlide" Target="/ppt/notesSlides/notesSlide1.xml" Id="R97065758fbf944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efc9d402e44fad" /><Relationship Type="http://schemas.openxmlformats.org/officeDocument/2006/relationships/notesSlide" Target="/ppt/notesSlides/notesSlide2.xml" Id="Rd7cf8e7056b646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8dc6a1d4304e5d" /><Relationship Type="http://schemas.openxmlformats.org/officeDocument/2006/relationships/notesSlide" Target="/ppt/notesSlides/notesSlide3.xml" Id="R579246fd0cef4d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875b7bda2be47ad" /><Relationship Type="http://schemas.openxmlformats.org/officeDocument/2006/relationships/notesSlide" Target="/ppt/notesSlides/notesSlide4.xml" Id="Rd81c2ffc321048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cc8099fa804d91" /><Relationship Type="http://schemas.openxmlformats.org/officeDocument/2006/relationships/notesSlide" Target="/ppt/notesSlides/notesSlide5.xml" Id="Reda4308bba4849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93d49bf3fef4f99" /><Relationship Type="http://schemas.openxmlformats.org/officeDocument/2006/relationships/notesSlide" Target="/ppt/notesSlides/notesSlide6.xml" Id="Rec334d7741f04b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42247b772f4e67" /><Relationship Type="http://schemas.openxmlformats.org/officeDocument/2006/relationships/notesSlide" Target="/ppt/notesSlides/notesSlide7.xml" Id="R9f2c1fe3c651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eacdd4f4c74be9" /><Relationship Type="http://schemas.openxmlformats.org/officeDocument/2006/relationships/notesSlide" Target="/ppt/notesSlides/notesSlide8.xml" Id="Rf8e6d1efaec043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3e516f632e4a25" /><Relationship Type="http://schemas.openxmlformats.org/officeDocument/2006/relationships/notesSlide" Target="/ppt/notesSlides/notesSlide9.xml" Id="R12256fddedd64d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43679fd7104515" /><Relationship Type="http://schemas.openxmlformats.org/officeDocument/2006/relationships/notesSlide" Target="/ppt/notesSlides/notesSlide10.xml" Id="R897be865c1024c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cbe6acf3994466" /><Relationship Type="http://schemas.openxmlformats.org/officeDocument/2006/relationships/notesSlide" Target="/ppt/notesSlides/notesSlide11.xml" Id="R4a260a75f1bd43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21246f7823d4742" /><Relationship Type="http://schemas.openxmlformats.org/officeDocument/2006/relationships/notesSlide" Target="/ppt/notesSlides/notesSlide12.xml" Id="R979feccb41f949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88fa00018dd4381" /><Relationship Type="http://schemas.openxmlformats.org/officeDocument/2006/relationships/notesSlide" Target="/ppt/notesSlides/notesSlide13.xml" Id="R015eb18a88b94f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050bf57dc9487b" /><Relationship Type="http://schemas.openxmlformats.org/officeDocument/2006/relationships/notesSlide" Target="/ppt/notesSlides/notesSlide14.xml" Id="R0840f67240454d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c66dcff43124ef2" /><Relationship Type="http://schemas.openxmlformats.org/officeDocument/2006/relationships/notesSlide" Target="/ppt/notesSlides/notesSlide15.xml" Id="R5d58f6a0ed1447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18b0f175614f6a" /><Relationship Type="http://schemas.openxmlformats.org/officeDocument/2006/relationships/notesSlide" Target="/ppt/notesSlides/notesSlide16.xml" Id="Rce69072f8f204e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4ab90eee3d4cb4" /><Relationship Type="http://schemas.openxmlformats.org/officeDocument/2006/relationships/notesSlide" Target="/ppt/notesSlides/notesSlide17.xml" Id="R3370505fa9894a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b96e5c2ae214d7c" /><Relationship Type="http://schemas.openxmlformats.org/officeDocument/2006/relationships/notesSlide" Target="/ppt/notesSlides/notesSlide18.xml" Id="Rb9182df11b34404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c09d13693345e8" /><Relationship Type="http://schemas.openxmlformats.org/officeDocument/2006/relationships/notesSlide" Target="/ppt/notesSlides/notesSlide19.xml" Id="R44a521f92b714952"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D756537-3E37-443D-B25A-693455E23621}"/>
              </a:ext>
            </a:extLst>
          </p:cNvPr>
          <p:cNvSpPr>
            <a:spLocks xmlns:a="http://schemas.openxmlformats.org/drawingml/2006/main" noGrp="1"/>
          </p:cNvSpPr>
          <p:nvPr/>
        </p:nvSpPr>
        <p:spPr>
          <a:xfrm xmlns:a="http://schemas.openxmlformats.org/drawingml/2006/main">
            <a:off x="685800" y="1066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FFFFFF"/>
                </a:solidFill>
              </a:defRPr>
            </a:defPPr>
            <a:lvl1pPr>
              <a:defRPr sz="3900" b="1">
                <a:solidFill>
                  <a:srgbClr val="FFFFFF"/>
                </a:solidFill>
              </a:defRPr>
            </a:lvl1pPr>
            <a:lvl2pPr>
              <a:defRPr sz="3900" b="1">
                <a:solidFill>
                  <a:srgbClr val="FFFFFF"/>
                </a:solidFill>
              </a:defRPr>
            </a:lvl2pPr>
            <a:lvl3pPr>
              <a:defRPr sz="3900" b="1">
                <a:solidFill>
                  <a:srgbClr val="FFFFFF"/>
                </a:solidFill>
              </a:defRPr>
            </a:lvl3pPr>
            <a:lvl4pPr>
              <a:defRPr sz="3900" b="1">
                <a:solidFill>
                  <a:srgbClr val="FFFFFF"/>
                </a:solidFill>
              </a:defRPr>
            </a:lvl4pPr>
            <a:lvl5pPr>
              <a:defRPr sz="3900" b="1">
                <a:solidFill>
                  <a:srgbClr val="FFFFFF"/>
                </a:solidFill>
              </a:defRPr>
            </a:lvl5pPr>
            <a:lvl6pPr>
              <a:defRPr sz="3900" b="1">
                <a:solidFill>
                  <a:srgbClr val="FFFFFF"/>
                </a:solidFill>
              </a:defRPr>
            </a:lvl6pPr>
            <a:lvl7pPr>
              <a:defRPr sz="3900" b="1">
                <a:solidFill>
                  <a:srgbClr val="FFFFFF"/>
                </a:solidFill>
              </a:defRPr>
            </a:lvl7pPr>
            <a:lvl8pPr>
              <a:defRPr sz="3900" b="1">
                <a:solidFill>
                  <a:srgbClr val="FFFFFF"/>
                </a:solidFill>
              </a:defRPr>
            </a:lvl8pPr>
            <a:lvl9pPr>
              <a:defRPr sz="3900" b="1">
                <a:solidFill>
                  <a:srgbClr val="FFFFFF"/>
                </a:solidFill>
              </a:defRPr>
            </a:lvl9pPr>
          </a:lstStyle>
          <a:p xmlns:a="http://schemas.openxmlformats.org/drawingml/2006/main">
            <a:pPr>
              <a:defRPr sz="3900" b="1">
                <a:solidFill>
                  <a:srgbClr val="FFFFFF"/>
                </a:solidFill>
              </a:defRPr>
            </a:pPr>
            <a:r>
              <a:rPr sz="3900" b="1">
                <a:solidFill>
                  <a:srgbClr val="FFFFFF"/>
                </a:solidFill>
              </a:rPr>
              <a:t>BlueROV task package</a:t>
            </a:r>
          </a:p>
        </p:txBody>
      </p:sp>
      <p:sp>
        <p:nvSpPr>
          <p:cNvPr id="2" name="">
            <a:extLst xmlns:a="http://schemas.openxmlformats.org/drawingml/2006/main">
              <a:ext uri="{FF2B5EF4-FFF2-40B4-BE49-F238E27FC236}">
                <a16:creationId xmlns:a16="http://schemas.microsoft.com/office/drawing/2014/main" id="{8E9FD5BB-9E0F-458B-8209-1E82E07A876A}"/>
              </a:ext>
            </a:extLst>
          </p:cNvPr>
          <p:cNvSpPr>
            <a:spLocks xmlns:a="http://schemas.openxmlformats.org/drawingml/2006/main" noGrp="1"/>
          </p:cNvSpPr>
          <p:nvPr/>
        </p:nvSpPr>
        <p:spPr>
          <a:xfrm xmlns:a="http://schemas.openxmlformats.org/drawingml/2006/main">
            <a:off x="704850" y="21336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CCFBF1"/>
                </a:solidFill>
              </a:defRPr>
            </a:defPPr>
            <a:lvl1pPr>
              <a:defRPr sz="2250" b="0">
                <a:solidFill>
                  <a:srgbClr val="CCFBF1"/>
                </a:solidFill>
              </a:defRPr>
            </a:lvl1pPr>
            <a:lvl2pPr>
              <a:defRPr sz="2250" b="0">
                <a:solidFill>
                  <a:srgbClr val="CCFBF1"/>
                </a:solidFill>
              </a:defRPr>
            </a:lvl2pPr>
            <a:lvl3pPr>
              <a:defRPr sz="2250" b="0">
                <a:solidFill>
                  <a:srgbClr val="CCFBF1"/>
                </a:solidFill>
              </a:defRPr>
            </a:lvl3pPr>
            <a:lvl4pPr>
              <a:defRPr sz="2250" b="0">
                <a:solidFill>
                  <a:srgbClr val="CCFBF1"/>
                </a:solidFill>
              </a:defRPr>
            </a:lvl4pPr>
            <a:lvl5pPr>
              <a:defRPr sz="2250" b="0">
                <a:solidFill>
                  <a:srgbClr val="CCFBF1"/>
                </a:solidFill>
              </a:defRPr>
            </a:lvl5pPr>
            <a:lvl6pPr>
              <a:defRPr sz="2250" b="0">
                <a:solidFill>
                  <a:srgbClr val="CCFBF1"/>
                </a:solidFill>
              </a:defRPr>
            </a:lvl6pPr>
            <a:lvl7pPr>
              <a:defRPr sz="2250" b="0">
                <a:solidFill>
                  <a:srgbClr val="CCFBF1"/>
                </a:solidFill>
              </a:defRPr>
            </a:lvl7pPr>
            <a:lvl8pPr>
              <a:defRPr sz="2250" b="0">
                <a:solidFill>
                  <a:srgbClr val="CCFBF1"/>
                </a:solidFill>
              </a:defRPr>
            </a:lvl8pPr>
            <a:lvl9pPr>
              <a:defRPr sz="2250" b="0">
                <a:solidFill>
                  <a:srgbClr val="CCFBF1"/>
                </a:solidFill>
              </a:defRPr>
            </a:lvl9pPr>
          </a:lstStyle>
          <a:p xmlns:a="http://schemas.openxmlformats.org/drawingml/2006/main">
            <a:pPr>
              <a:defRPr sz="2250" b="0">
                <a:solidFill>
                  <a:srgbClr val="CCFBF1"/>
                </a:solidFill>
              </a:defRPr>
            </a:pPr>
            <a:r>
              <a:rPr sz="2250" b="0">
                <a:solidFill>
                  <a:srgbClr val="CCFBF1"/>
                </a:solidFill>
              </a:rPr>
              <a:t>A beginner’s code review of the nine staged files</a:t>
            </a:r>
          </a:p>
        </p:txBody>
      </p:sp>
      <p:sp>
        <p:nvSpPr>
          <p:cNvPr id="3" name="">
            <a:extLst xmlns:a="http://schemas.openxmlformats.org/drawingml/2006/main">
              <a:ext uri="{FF2B5EF4-FFF2-40B4-BE49-F238E27FC236}">
                <a16:creationId xmlns:a16="http://schemas.microsoft.com/office/drawing/2014/main" id="{276901FC-AC01-45DE-B290-BA20DFF734D7}"/>
              </a:ext>
            </a:extLst>
          </p:cNvPr>
          <p:cNvSpPr>
            <a:spLocks xmlns:a="http://schemas.openxmlformats.org/drawingml/2006/main" noGrp="1"/>
          </p:cNvSpPr>
          <p:nvPr/>
        </p:nvSpPr>
        <p:spPr>
          <a:xfrm xmlns:a="http://schemas.openxmlformats.org/drawingml/2006/main">
            <a:off x="704850" y="52768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CBD5E1"/>
                </a:solidFill>
              </a:defRPr>
            </a:defPPr>
            <a:lvl1pPr>
              <a:defRPr sz="1650" b="0">
                <a:solidFill>
                  <a:srgbClr val="CBD5E1"/>
                </a:solidFill>
              </a:defRPr>
            </a:lvl1pPr>
            <a:lvl2pPr>
              <a:defRPr sz="1650" b="0">
                <a:solidFill>
                  <a:srgbClr val="CBD5E1"/>
                </a:solidFill>
              </a:defRPr>
            </a:lvl2pPr>
            <a:lvl3pPr>
              <a:defRPr sz="1650" b="0">
                <a:solidFill>
                  <a:srgbClr val="CBD5E1"/>
                </a:solidFill>
              </a:defRPr>
            </a:lvl3pPr>
            <a:lvl4pPr>
              <a:defRPr sz="1650" b="0">
                <a:solidFill>
                  <a:srgbClr val="CBD5E1"/>
                </a:solidFill>
              </a:defRPr>
            </a:lvl4pPr>
            <a:lvl5pPr>
              <a:defRPr sz="1650" b="0">
                <a:solidFill>
                  <a:srgbClr val="CBD5E1"/>
                </a:solidFill>
              </a:defRPr>
            </a:lvl5pPr>
            <a:lvl6pPr>
              <a:defRPr sz="1650" b="0">
                <a:solidFill>
                  <a:srgbClr val="CBD5E1"/>
                </a:solidFill>
              </a:defRPr>
            </a:lvl6pPr>
            <a:lvl7pPr>
              <a:defRPr sz="1650" b="0">
                <a:solidFill>
                  <a:srgbClr val="CBD5E1"/>
                </a:solidFill>
              </a:defRPr>
            </a:lvl7pPr>
            <a:lvl8pPr>
              <a:defRPr sz="1650" b="0">
                <a:solidFill>
                  <a:srgbClr val="CBD5E1"/>
                </a:solidFill>
              </a:defRPr>
            </a:lvl8pPr>
            <a:lvl9pPr>
              <a:defRPr sz="1650" b="0">
                <a:solidFill>
                  <a:srgbClr val="CBD5E1"/>
                </a:solidFill>
              </a:defRPr>
            </a:lvl9pPr>
          </a:lstStyle>
          <a:p xmlns:a="http://schemas.openxmlformats.org/drawingml/2006/main">
            <a:pPr>
              <a:defRPr sz="1650" b="0">
                <a:solidFill>
                  <a:srgbClr val="CBD5E1"/>
                </a:solidFill>
              </a:defRPr>
            </a:pPr>
            <a:r>
              <a:rPr sz="1650" b="0">
                <a:solidFill>
                  <a:srgbClr val="CBD5E1"/>
                </a:solidFill>
              </a:rPr>
              <a:t>ArduSub SITL + Gazebo · macOS package · current staged state</a:t>
            </a:r>
          </a:p>
        </p:txBody>
      </p:sp>
    </p:spTree>
    <p:extLst>
      <p:ext uri="{BB962C8B-B14F-4D97-AF65-F5344CB8AC3E}">
        <p14:creationId xmlns:p14="http://schemas.microsoft.com/office/powerpoint/2010/main" val="172654494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2CEEB0-63F6-422E-91CD-131732428106}"/>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What the simulation connects</a:t>
            </a:r>
          </a:p>
        </p:txBody>
      </p:sp>
      <p:sp>
        <p:nvSpPr>
          <p:cNvPr id="2" name="">
            <a:extLst xmlns:a="http://schemas.openxmlformats.org/drawingml/2006/main">
              <a:ext uri="{FF2B5EF4-FFF2-40B4-BE49-F238E27FC236}">
                <a16:creationId xmlns:a16="http://schemas.microsoft.com/office/drawing/2014/main" id="{7FC1E179-30DE-4D38-A405-2E44E8DAC5D1}"/>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THE BIG PICTURE</a:t>
            </a:r>
          </a:p>
        </p:txBody>
      </p:sp>
      <p:sp>
        <p:nvSpPr>
          <p:cNvPr id="3" name="">
            <a:extLst xmlns:a="http://schemas.openxmlformats.org/drawingml/2006/main">
              <a:ext uri="{FF2B5EF4-FFF2-40B4-BE49-F238E27FC236}">
                <a16:creationId xmlns:a16="http://schemas.microsoft.com/office/drawing/2014/main" id="{E565BFF1-25BB-4367-B30C-6FC0EDF5EFFB}"/>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Pilot and autopilot</a:t>
            </a:r>
          </a:p>
        </p:txBody>
      </p:sp>
      <p:sp>
        <p:nvSpPr>
          <p:cNvPr id="4" name="">
            <a:extLst xmlns:a="http://schemas.openxmlformats.org/drawingml/2006/main">
              <a:ext uri="{FF2B5EF4-FFF2-40B4-BE49-F238E27FC236}">
                <a16:creationId xmlns:a16="http://schemas.microsoft.com/office/drawing/2014/main" id="{13E6AE20-C2DF-4BCC-ACC3-5599D98B7822}"/>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Physics and feedback</a:t>
            </a:r>
          </a:p>
        </p:txBody>
      </p:sp>
      <p:sp>
        <p:nvSpPr>
          <p:cNvPr id="5" name="">
            <a:extLst xmlns:a="http://schemas.openxmlformats.org/drawingml/2006/main">
              <a:ext uri="{FF2B5EF4-FFF2-40B4-BE49-F238E27FC236}">
                <a16:creationId xmlns:a16="http://schemas.microsoft.com/office/drawing/2014/main" id="{9D6BAA78-81E7-4846-A428-06EDD914E525}"/>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QGroundControl shows the virtual ROV and sends joystick commands.</a:t>
            </a:r>
          </a:p>
          <a:p xmlns:a="http://schemas.openxmlformats.org/drawingml/2006/main">
            <a:r>
              <a:t/>
            </a:r>
          </a:p>
          <a:p xmlns:a="http://schemas.openxmlformats.org/drawingml/2006/main">
            <a:pPr>
              <a:defRPr sz="1650" b="0">
                <a:solidFill>
                  <a:srgbClr val="0F172A"/>
                </a:solidFill>
              </a:defRPr>
            </a:pPr>
            <a:r>
              <a:rPr sz="1650" b="0">
                <a:solidFill>
                  <a:srgbClr val="0F172A"/>
                </a:solidFill>
              </a:rPr>
              <a:t>ArduSub SITL turns a requested motion into motor outputs using its selected frame mixer.</a:t>
            </a:r>
          </a:p>
        </p:txBody>
      </p:sp>
      <p:sp>
        <p:nvSpPr>
          <p:cNvPr id="6" name="">
            <a:extLst xmlns:a="http://schemas.openxmlformats.org/drawingml/2006/main">
              <a:ext uri="{FF2B5EF4-FFF2-40B4-BE49-F238E27FC236}">
                <a16:creationId xmlns:a16="http://schemas.microsoft.com/office/drawing/2014/main" id="{BEAFD668-521E-4860-8FB7-E965445AD33D}"/>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Gazebo calculates how the model moves.</a:t>
            </a:r>
          </a:p>
          <a:p xmlns:a="http://schemas.openxmlformats.org/drawingml/2006/main">
            <a:r>
              <a:t/>
            </a:r>
          </a:p>
          <a:p xmlns:a="http://schemas.openxmlformats.org/drawingml/2006/main">
            <a:pPr>
              <a:defRPr sz="1650" b="0">
                <a:solidFill>
                  <a:srgbClr val="0F172A"/>
                </a:solidFill>
              </a:defRPr>
            </a:pPr>
            <a:r>
              <a:rPr sz="1650" b="0">
                <a:solidFill>
                  <a:srgbClr val="0F172A"/>
                </a:solidFill>
              </a:rPr>
              <a:t>The connector carries motor commands into Gazebo and sends simulated state back to ArduSub.</a:t>
            </a:r>
          </a:p>
        </p:txBody>
      </p:sp>
    </p:spTree>
    <p:extLst>
      <p:ext uri="{BB962C8B-B14F-4D97-AF65-F5344CB8AC3E}">
        <p14:creationId xmlns:p14="http://schemas.microsoft.com/office/powerpoint/2010/main" val="100287448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692A93-C46F-43F6-82DC-42411015E076}"/>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The nine staged files</a:t>
            </a:r>
          </a:p>
        </p:txBody>
      </p:sp>
      <p:sp>
        <p:nvSpPr>
          <p:cNvPr id="2" name="">
            <a:extLst xmlns:a="http://schemas.openxmlformats.org/drawingml/2006/main">
              <a:ext uri="{FF2B5EF4-FFF2-40B4-BE49-F238E27FC236}">
                <a16:creationId xmlns:a16="http://schemas.microsoft.com/office/drawing/2014/main" id="{12FDE384-911E-453F-B02B-A25ED145E932}"/>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INVENTORY</a:t>
            </a:r>
          </a:p>
        </p:txBody>
      </p:sp>
      <p:sp>
        <p:nvSpPr>
          <p:cNvPr id="3" name="">
            <a:extLst xmlns:a="http://schemas.openxmlformats.org/drawingml/2006/main">
              <a:ext uri="{FF2B5EF4-FFF2-40B4-BE49-F238E27FC236}">
                <a16:creationId xmlns:a16="http://schemas.microsoft.com/office/drawing/2014/main" id="{D09B79C2-EDE6-40C5-8DA4-428DEB98A0BB}"/>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Current BlueROV path</a:t>
            </a:r>
          </a:p>
        </p:txBody>
      </p:sp>
      <p:sp>
        <p:nvSpPr>
          <p:cNvPr id="4" name="">
            <a:extLst xmlns:a="http://schemas.openxmlformats.org/drawingml/2006/main">
              <a:ext uri="{FF2B5EF4-FFF2-40B4-BE49-F238E27FC236}">
                <a16:creationId xmlns:a16="http://schemas.microsoft.com/office/drawing/2014/main" id="{C7D725EE-1827-411C-9AD6-7BAA58AC596C}"/>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Run and earlier experiment</a:t>
            </a:r>
          </a:p>
        </p:txBody>
      </p:sp>
      <p:sp>
        <p:nvSpPr>
          <p:cNvPr id="5" name="">
            <a:extLst xmlns:a="http://schemas.openxmlformats.org/drawingml/2006/main">
              <a:ext uri="{FF2B5EF4-FFF2-40B4-BE49-F238E27FC236}">
                <a16:creationId xmlns:a16="http://schemas.microsoft.com/office/drawing/2014/main" id="{D413443B-2BD7-4169-A1F2-F785A26C5489}"/>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0F172A"/>
                </a:solidFill>
              </a:defRPr>
            </a:defPPr>
            <a:lvl1pPr>
              <a:defRPr sz="1575" b="0">
                <a:solidFill>
                  <a:srgbClr val="0F172A"/>
                </a:solidFill>
              </a:defRPr>
            </a:lvl1pPr>
            <a:lvl2pPr>
              <a:defRPr sz="1575" b="0">
                <a:solidFill>
                  <a:srgbClr val="0F172A"/>
                </a:solidFill>
              </a:defRPr>
            </a:lvl2pPr>
            <a:lvl3pPr>
              <a:defRPr sz="1575" b="0">
                <a:solidFill>
                  <a:srgbClr val="0F172A"/>
                </a:solidFill>
              </a:defRPr>
            </a:lvl3pPr>
            <a:lvl4pPr>
              <a:defRPr sz="1575" b="0">
                <a:solidFill>
                  <a:srgbClr val="0F172A"/>
                </a:solidFill>
              </a:defRPr>
            </a:lvl4pPr>
            <a:lvl5pPr>
              <a:defRPr sz="1575" b="0">
                <a:solidFill>
                  <a:srgbClr val="0F172A"/>
                </a:solidFill>
              </a:defRPr>
            </a:lvl5pPr>
            <a:lvl6pPr>
              <a:defRPr sz="1575" b="0">
                <a:solidFill>
                  <a:srgbClr val="0F172A"/>
                </a:solidFill>
              </a:defRPr>
            </a:lvl6pPr>
            <a:lvl7pPr>
              <a:defRPr sz="1575" b="0">
                <a:solidFill>
                  <a:srgbClr val="0F172A"/>
                </a:solidFill>
              </a:defRPr>
            </a:lvl7pPr>
            <a:lvl8pPr>
              <a:defRPr sz="1575" b="0">
                <a:solidFill>
                  <a:srgbClr val="0F172A"/>
                </a:solidFill>
              </a:defRPr>
            </a:lvl8pPr>
            <a:lvl9pPr>
              <a:defRPr sz="1575" b="0">
                <a:solidFill>
                  <a:srgbClr val="0F172A"/>
                </a:solidFill>
              </a:defRPr>
            </a:lvl9pPr>
          </a:lstStyle>
          <a:p xmlns:a="http://schemas.openxmlformats.org/drawingml/2006/main">
            <a:pPr>
              <a:defRPr sz="1575" b="0">
                <a:solidFill>
                  <a:srgbClr val="0F172A"/>
                </a:solidFill>
              </a:defRPr>
            </a:pPr>
            <a:r>
              <a:rPr sz="1575" b="0">
                <a:solidFill>
                  <a:srgbClr val="0F172A"/>
                </a:solidFill>
              </a:rPr>
              <a:t>.gitignore</a:t>
            </a:r>
          </a:p>
          <a:p xmlns:a="http://schemas.openxmlformats.org/drawingml/2006/main">
            <a:pPr>
              <a:defRPr sz="1575" b="0">
                <a:solidFill>
                  <a:srgbClr val="0F172A"/>
                </a:solidFill>
              </a:defRPr>
            </a:pPr>
            <a:r>
              <a:rPr sz="1575" b="0">
                <a:solidFill>
                  <a:srgbClr val="0F172A"/>
                </a:solidFill>
              </a:rPr>
              <a:t>prepare_mac.sh</a:t>
            </a:r>
          </a:p>
          <a:p xmlns:a="http://schemas.openxmlformats.org/drawingml/2006/main">
            <a:pPr>
              <a:defRPr sz="1575" b="0">
                <a:solidFill>
                  <a:srgbClr val="0F172A"/>
                </a:solidFill>
              </a:defRPr>
            </a:pPr>
            <a:r>
              <a:rPr sz="1575" b="0">
                <a:solidFill>
                  <a:srgbClr val="0F172A"/>
                </a:solidFill>
              </a:rPr>
              <a:t>rov-sim-macos.patch</a:t>
            </a:r>
          </a:p>
          <a:p xmlns:a="http://schemas.openxmlformats.org/drawingml/2006/main">
            <a:pPr>
              <a:defRPr sz="1575" b="0">
                <a:solidFill>
                  <a:srgbClr val="0F172A"/>
                </a:solidFill>
              </a:defRPr>
            </a:pPr>
            <a:r>
              <a:rPr sz="1575" b="0">
                <a:solidFill>
                  <a:srgbClr val="0F172A"/>
                </a:solidFill>
              </a:rPr>
              <a:t>beaumont-ardupilot-gazebo-test.patch</a:t>
            </a:r>
          </a:p>
          <a:p xmlns:a="http://schemas.openxmlformats.org/drawingml/2006/main">
            <a:pPr>
              <a:defRPr sz="1575" b="0">
                <a:solidFill>
                  <a:srgbClr val="0F172A"/>
                </a:solidFill>
              </a:defRPr>
            </a:pPr>
            <a:r>
              <a:rPr sz="1575" b="0">
                <a:solidFill>
                  <a:srgbClr val="0F172A"/>
                </a:solidFill>
              </a:rPr>
              <a:t>generate.py</a:t>
            </a:r>
          </a:p>
          <a:p xmlns:a="http://schemas.openxmlformats.org/drawingml/2006/main">
            <a:pPr>
              <a:defRPr sz="1575" b="0">
                <a:solidFill>
                  <a:srgbClr val="0F172A"/>
                </a:solidFill>
              </a:defRPr>
            </a:pPr>
            <a:r>
              <a:rPr sz="1575" b="0">
                <a:solidFill>
                  <a:srgbClr val="0F172A"/>
                </a:solidFill>
              </a:rPr>
              <a:t>verify.py</a:t>
            </a:r>
          </a:p>
        </p:txBody>
      </p:sp>
      <p:sp>
        <p:nvSpPr>
          <p:cNvPr id="6" name="">
            <a:extLst xmlns:a="http://schemas.openxmlformats.org/drawingml/2006/main">
              <a:ext uri="{FF2B5EF4-FFF2-40B4-BE49-F238E27FC236}">
                <a16:creationId xmlns:a16="http://schemas.microsoft.com/office/drawing/2014/main" id="{031AB950-D528-4D86-8BC8-206CAF57E0E7}"/>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0F172A"/>
                </a:solidFill>
              </a:defRPr>
            </a:defPPr>
            <a:lvl1pPr>
              <a:defRPr sz="1575" b="0">
                <a:solidFill>
                  <a:srgbClr val="0F172A"/>
                </a:solidFill>
              </a:defRPr>
            </a:lvl1pPr>
            <a:lvl2pPr>
              <a:defRPr sz="1575" b="0">
                <a:solidFill>
                  <a:srgbClr val="0F172A"/>
                </a:solidFill>
              </a:defRPr>
            </a:lvl2pPr>
            <a:lvl3pPr>
              <a:defRPr sz="1575" b="0">
                <a:solidFill>
                  <a:srgbClr val="0F172A"/>
                </a:solidFill>
              </a:defRPr>
            </a:lvl3pPr>
            <a:lvl4pPr>
              <a:defRPr sz="1575" b="0">
                <a:solidFill>
                  <a:srgbClr val="0F172A"/>
                </a:solidFill>
              </a:defRPr>
            </a:lvl4pPr>
            <a:lvl5pPr>
              <a:defRPr sz="1575" b="0">
                <a:solidFill>
                  <a:srgbClr val="0F172A"/>
                </a:solidFill>
              </a:defRPr>
            </a:lvl5pPr>
            <a:lvl6pPr>
              <a:defRPr sz="1575" b="0">
                <a:solidFill>
                  <a:srgbClr val="0F172A"/>
                </a:solidFill>
              </a:defRPr>
            </a:lvl6pPr>
            <a:lvl7pPr>
              <a:defRPr sz="1575" b="0">
                <a:solidFill>
                  <a:srgbClr val="0F172A"/>
                </a:solidFill>
              </a:defRPr>
            </a:lvl7pPr>
            <a:lvl8pPr>
              <a:defRPr sz="1575" b="0">
                <a:solidFill>
                  <a:srgbClr val="0F172A"/>
                </a:solidFill>
              </a:defRPr>
            </a:lvl8pPr>
            <a:lvl9pPr>
              <a:defRPr sz="1575" b="0">
                <a:solidFill>
                  <a:srgbClr val="0F172A"/>
                </a:solidFill>
              </a:defRPr>
            </a:lvl9pPr>
          </a:lstStyle>
          <a:p xmlns:a="http://schemas.openxmlformats.org/drawingml/2006/main">
            <a:pPr>
              <a:defRPr sz="1575" b="0">
                <a:solidFill>
                  <a:srgbClr val="0F172A"/>
                </a:solidFill>
              </a:defRPr>
            </a:pPr>
            <a:r>
              <a:rPr sz="1575" b="0">
                <a:solidFill>
                  <a:srgbClr val="0F172A"/>
                </a:solidFill>
              </a:rPr>
              <a:t>run_gazebo_mac.sh</a:t>
            </a:r>
          </a:p>
          <a:p xmlns:a="http://schemas.openxmlformats.org/drawingml/2006/main">
            <a:pPr>
              <a:defRPr sz="1575" b="0">
                <a:solidFill>
                  <a:srgbClr val="0F172A"/>
                </a:solidFill>
              </a:defRPr>
            </a:pPr>
            <a:r>
              <a:rPr sz="1575" b="0">
                <a:solidFill>
                  <a:srgbClr val="0F172A"/>
                </a:solidFill>
              </a:rPr>
              <a:t>launch_sitl_gui.sh</a:t>
            </a:r>
          </a:p>
          <a:p xmlns:a="http://schemas.openxmlformats.org/drawingml/2006/main">
            <a:r>
              <a:t/>
            </a:r>
          </a:p>
          <a:p xmlns:a="http://schemas.openxmlformats.org/drawingml/2006/main">
            <a:pPr>
              <a:defRPr sz="1575" b="0">
                <a:solidFill>
                  <a:srgbClr val="0F172A"/>
                </a:solidFill>
              </a:defRPr>
            </a:pPr>
            <a:r>
              <a:rPr sz="1575" b="0">
                <a:solidFill>
                  <a:srgbClr val="0F172A"/>
                </a:solidFill>
              </a:rPr>
              <a:t>beaumont-gazebo-prepare-test.py</a:t>
            </a:r>
          </a:p>
          <a:p xmlns:a="http://schemas.openxmlformats.org/drawingml/2006/main">
            <a:pPr>
              <a:defRPr sz="1575" b="0">
                <a:solidFill>
                  <a:srgbClr val="0F172A"/>
                </a:solidFill>
              </a:defRPr>
            </a:pPr>
            <a:r>
              <a:rPr sz="1575" b="0">
                <a:solidFill>
                  <a:srgbClr val="0F172A"/>
                </a:solidFill>
              </a:rPr>
              <a:t>Earlier Beaumont connection experiment only</a:t>
            </a:r>
          </a:p>
        </p:txBody>
      </p:sp>
    </p:spTree>
    <p:extLst>
      <p:ext uri="{BB962C8B-B14F-4D97-AF65-F5344CB8AC3E}">
        <p14:creationId xmlns:p14="http://schemas.microsoft.com/office/powerpoint/2010/main" val="202741485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AD09F5-26D6-430A-9FC7-03B29FEC4DA3}"/>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.gitignore: keep local output local</a:t>
            </a:r>
          </a:p>
        </p:txBody>
      </p:sp>
      <p:sp>
        <p:nvSpPr>
          <p:cNvPr id="2" name="">
            <a:extLst xmlns:a="http://schemas.openxmlformats.org/drawingml/2006/main">
              <a:ext uri="{FF2B5EF4-FFF2-40B4-BE49-F238E27FC236}">
                <a16:creationId xmlns:a16="http://schemas.microsoft.com/office/drawing/2014/main" id="{6E7C451E-BC74-4B12-8F2C-9569FEADF657}"/>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1 OF 9</a:t>
            </a:r>
          </a:p>
        </p:txBody>
      </p:sp>
      <p:sp>
        <p:nvSpPr>
          <p:cNvPr id="3" name="">
            <a:extLst xmlns:a="http://schemas.openxmlformats.org/drawingml/2006/main">
              <a:ext uri="{FF2B5EF4-FFF2-40B4-BE49-F238E27FC236}">
                <a16:creationId xmlns:a16="http://schemas.microsoft.com/office/drawing/2014/main" id="{9DAE36E3-C6F0-4FFF-8933-7709621328D6}"/>
              </a:ext>
            </a:extLst>
          </p:cNvPr>
          <p:cNvSpPr>
            <a:spLocks xmlns:a="http://schemas.openxmlformats.org/drawingml/2006/main" noGrp="1"/>
          </p:cNvSpPr>
          <p:nvPr/>
        </p:nvSpPr>
        <p:spPr>
          <a:xfrm xmlns:a="http://schemas.openxmlformats.org/drawingml/2006/main">
            <a:off x="723900" y="1809750"/>
            <a:ext cx="4953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F172A"/>
                </a:solidFill>
              </a:defRPr>
            </a:defPPr>
            <a:lvl1pPr>
              <a:defRPr sz="1950" b="0">
                <a:solidFill>
                  <a:srgbClr val="0F172A"/>
                </a:solidFill>
              </a:defRPr>
            </a:lvl1pPr>
            <a:lvl2pPr>
              <a:defRPr sz="1950" b="0">
                <a:solidFill>
                  <a:srgbClr val="0F172A"/>
                </a:solidFill>
              </a:defRPr>
            </a:lvl2pPr>
            <a:lvl3pPr>
              <a:defRPr sz="1950" b="0">
                <a:solidFill>
                  <a:srgbClr val="0F172A"/>
                </a:solidFill>
              </a:defRPr>
            </a:lvl3pPr>
            <a:lvl4pPr>
              <a:defRPr sz="1950" b="0">
                <a:solidFill>
                  <a:srgbClr val="0F172A"/>
                </a:solidFill>
              </a:defRPr>
            </a:lvl4pPr>
            <a:lvl5pPr>
              <a:defRPr sz="1950" b="0">
                <a:solidFill>
                  <a:srgbClr val="0F172A"/>
                </a:solidFill>
              </a:defRPr>
            </a:lvl5pPr>
            <a:lvl6pPr>
              <a:defRPr sz="1950" b="0">
                <a:solidFill>
                  <a:srgbClr val="0F172A"/>
                </a:solidFill>
              </a:defRPr>
            </a:lvl6pPr>
            <a:lvl7pPr>
              <a:defRPr sz="1950" b="0">
                <a:solidFill>
                  <a:srgbClr val="0F172A"/>
                </a:solidFill>
              </a:defRPr>
            </a:lvl7pPr>
            <a:lvl8pPr>
              <a:defRPr sz="1950" b="0">
                <a:solidFill>
                  <a:srgbClr val="0F172A"/>
                </a:solidFill>
              </a:defRPr>
            </a:lvl8pPr>
            <a:lvl9pPr>
              <a:defRPr sz="1950" b="0">
                <a:solidFill>
                  <a:srgbClr val="0F172A"/>
                </a:solidFill>
              </a:defRPr>
            </a:lvl9pPr>
          </a:lstStyle>
          <a:p xmlns:a="http://schemas.openxmlformats.org/drawingml/2006/main">
            <a:pPr>
              <a:defRPr sz="1950" b="0">
                <a:solidFill>
                  <a:srgbClr val="0F172A"/>
                </a:solidFill>
              </a:defRPr>
            </a:pPr>
            <a:r>
              <a:rPr sz="1950" b="0">
                <a:solidFill>
                  <a:srgbClr val="0F172A"/>
                </a:solidFill>
              </a:rPr>
              <a:t>/generated/</a:t>
            </a:r>
          </a:p>
          <a:p xmlns:a="http://schemas.openxmlformats.org/drawingml/2006/main">
            <a:pPr>
              <a:defRPr sz="1950" b="0">
                <a:solidFill>
                  <a:srgbClr val="0F172A"/>
                </a:solidFill>
              </a:defRPr>
            </a:pPr>
            <a:r>
              <a:rPr sz="1950" b="0">
                <a:solidFill>
                  <a:srgbClr val="0F172A"/>
                </a:solidFill>
              </a:rPr>
              <a:t>/.local/</a:t>
            </a:r>
          </a:p>
          <a:p xmlns:a="http://schemas.openxmlformats.org/drawingml/2006/main">
            <a:pPr>
              <a:defRPr sz="1950" b="0">
                <a:solidFill>
                  <a:srgbClr val="0F172A"/>
                </a:solidFill>
              </a:defRPr>
            </a:pPr>
            <a:r>
              <a:rPr sz="1950" b="0">
                <a:solidFill>
                  <a:srgbClr val="0F172A"/>
                </a:solidFill>
              </a:rPr>
              <a:t>/.deck-build/</a:t>
            </a:r>
          </a:p>
          <a:p xmlns:a="http://schemas.openxmlformats.org/drawingml/2006/main">
            <a:pPr>
              <a:defRPr sz="1950" b="0">
                <a:solidFill>
                  <a:srgbClr val="0F172A"/>
                </a:solidFill>
              </a:defRPr>
            </a:pPr>
            <a:r>
              <a:rPr sz="1950" b="0">
                <a:solidFill>
                  <a:srgbClr val="0F172A"/>
                </a:solidFill>
              </a:rPr>
              <a:t>/__pycache__/</a:t>
            </a:r>
          </a:p>
        </p:txBody>
      </p:sp>
      <p:sp>
        <p:nvSpPr>
          <p:cNvPr id="4" name="">
            <a:extLst xmlns:a="http://schemas.openxmlformats.org/drawingml/2006/main">
              <a:ext uri="{FF2B5EF4-FFF2-40B4-BE49-F238E27FC236}">
                <a16:creationId xmlns:a16="http://schemas.microsoft.com/office/drawing/2014/main" id="{94C0FDB1-0326-4F67-AB23-4A32F4C3A1BB}"/>
              </a:ext>
            </a:extLst>
          </p:cNvPr>
          <p:cNvSpPr>
            <a:spLocks xmlns:a="http://schemas.openxmlformats.org/drawingml/2006/main" noGrp="1"/>
          </p:cNvSpPr>
          <p:nvPr/>
        </p:nvSpPr>
        <p:spPr>
          <a:xfrm xmlns:a="http://schemas.openxmlformats.org/drawingml/2006/main">
            <a:off x="6248400" y="1847850"/>
            <a:ext cx="50958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F172A"/>
                </a:solidFill>
              </a:defRPr>
            </a:defPPr>
            <a:lvl1pPr>
              <a:defRPr sz="1725" b="0">
                <a:solidFill>
                  <a:srgbClr val="0F172A"/>
                </a:solidFill>
              </a:defRPr>
            </a:lvl1pPr>
            <a:lvl2pPr>
              <a:defRPr sz="1725" b="0">
                <a:solidFill>
                  <a:srgbClr val="0F172A"/>
                </a:solidFill>
              </a:defRPr>
            </a:lvl2pPr>
            <a:lvl3pPr>
              <a:defRPr sz="1725" b="0">
                <a:solidFill>
                  <a:srgbClr val="0F172A"/>
                </a:solidFill>
              </a:defRPr>
            </a:lvl3pPr>
            <a:lvl4pPr>
              <a:defRPr sz="1725" b="0">
                <a:solidFill>
                  <a:srgbClr val="0F172A"/>
                </a:solidFill>
              </a:defRPr>
            </a:lvl4pPr>
            <a:lvl5pPr>
              <a:defRPr sz="1725" b="0">
                <a:solidFill>
                  <a:srgbClr val="0F172A"/>
                </a:solidFill>
              </a:defRPr>
            </a:lvl5pPr>
            <a:lvl6pPr>
              <a:defRPr sz="1725" b="0">
                <a:solidFill>
                  <a:srgbClr val="0F172A"/>
                </a:solidFill>
              </a:defRPr>
            </a:lvl6pPr>
            <a:lvl7pPr>
              <a:defRPr sz="1725" b="0">
                <a:solidFill>
                  <a:srgbClr val="0F172A"/>
                </a:solidFill>
              </a:defRPr>
            </a:lvl7pPr>
            <a:lvl8pPr>
              <a:defRPr sz="1725" b="0">
                <a:solidFill>
                  <a:srgbClr val="0F172A"/>
                </a:solidFill>
              </a:defRPr>
            </a:lvl8pPr>
            <a:lvl9pPr>
              <a:defRPr sz="1725" b="0">
                <a:solidFill>
                  <a:srgbClr val="0F172A"/>
                </a:solidFill>
              </a:defRPr>
            </a:lvl9pPr>
          </a:lstStyle>
          <a:p xmlns:a="http://schemas.openxmlformats.org/drawingml/2006/main">
            <a:pPr>
              <a:defRPr sz="1725" b="0">
                <a:solidFill>
                  <a:srgbClr val="0F172A"/>
                </a:solidFill>
              </a:defRPr>
            </a:pPr>
            <a:r>
              <a:rPr sz="1725" b="0">
                <a:solidFill>
                  <a:srgbClr val="0F172A"/>
                </a:solidFill>
              </a:rPr>
              <a:t>The source files can travel through Git. Built libraries and generated worlds depend on each member’s Mac, so the setup script recreates them locally.</a:t>
            </a:r>
          </a:p>
        </p:txBody>
      </p:sp>
    </p:spTree>
    <p:extLst>
      <p:ext uri="{BB962C8B-B14F-4D97-AF65-F5344CB8AC3E}">
        <p14:creationId xmlns:p14="http://schemas.microsoft.com/office/powerpoint/2010/main" val="365451437"/>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F93D89-DFBE-4B91-B002-366900029E88}"/>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prepare_mac.sh: what it checks first</a:t>
            </a:r>
          </a:p>
        </p:txBody>
      </p:sp>
      <p:sp>
        <p:nvSpPr>
          <p:cNvPr id="2" name="">
            <a:extLst xmlns:a="http://schemas.openxmlformats.org/drawingml/2006/main">
              <a:ext uri="{FF2B5EF4-FFF2-40B4-BE49-F238E27FC236}">
                <a16:creationId xmlns:a16="http://schemas.microsoft.com/office/drawing/2014/main" id="{458D7057-EFC4-4E39-9A54-A35DCA2A8879}"/>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2 OF 9</a:t>
            </a:r>
          </a:p>
        </p:txBody>
      </p:sp>
      <p:sp>
        <p:nvSpPr>
          <p:cNvPr id="3" name="">
            <a:extLst xmlns:a="http://schemas.openxmlformats.org/drawingml/2006/main">
              <a:ext uri="{FF2B5EF4-FFF2-40B4-BE49-F238E27FC236}">
                <a16:creationId xmlns:a16="http://schemas.microsoft.com/office/drawing/2014/main" id="{89BD649E-BEF6-43F2-B6C5-88C8E1AC1363}"/>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Inputs it expects</a:t>
            </a:r>
          </a:p>
        </p:txBody>
      </p:sp>
      <p:sp>
        <p:nvSpPr>
          <p:cNvPr id="4" name="">
            <a:extLst xmlns:a="http://schemas.openxmlformats.org/drawingml/2006/main">
              <a:ext uri="{FF2B5EF4-FFF2-40B4-BE49-F238E27FC236}">
                <a16:creationId xmlns:a16="http://schemas.microsoft.com/office/drawing/2014/main" id="{98D20361-F96D-465B-A10D-E6CE4DD09114}"/>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Why this matters</a:t>
            </a:r>
          </a:p>
        </p:txBody>
      </p:sp>
      <p:sp>
        <p:nvSpPr>
          <p:cNvPr id="5" name="">
            <a:extLst xmlns:a="http://schemas.openxmlformats.org/drawingml/2006/main">
              <a:ext uri="{FF2B5EF4-FFF2-40B4-BE49-F238E27FC236}">
                <a16:creationId xmlns:a16="http://schemas.microsoft.com/office/drawing/2014/main" id="{1E40559F-39A6-483B-A765-50529C06C2AF}"/>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macOS</a:t>
            </a:r>
          </a:p>
          <a:p xmlns:a="http://schemas.openxmlformats.org/drawingml/2006/main">
            <a:pPr>
              <a:defRPr sz="1650" b="0">
                <a:solidFill>
                  <a:srgbClr val="0F172A"/>
                </a:solidFill>
              </a:defRPr>
            </a:pPr>
            <a:r>
              <a:rPr sz="1650" b="0">
                <a:solidFill>
                  <a:srgbClr val="0F172A"/>
                </a:solidFill>
              </a:rPr>
              <a:t>Gazebo, Git, CMake, Python</a:t>
            </a:r>
          </a:p>
          <a:p xmlns:a="http://schemas.openxmlformats.org/drawingml/2006/main">
            <a:pPr>
              <a:defRPr sz="1650" b="0">
                <a:solidFill>
                  <a:srgbClr val="0F172A"/>
                </a:solidFill>
              </a:defRPr>
            </a:pPr>
            <a:r>
              <a:rPr sz="1650" b="0">
                <a:solidFill>
                  <a:srgbClr val="0F172A"/>
                </a:solidFill>
              </a:rPr>
              <a:t>Built ArduSub SITL binary</a:t>
            </a:r>
          </a:p>
          <a:p xmlns:a="http://schemas.openxmlformats.org/drawingml/2006/main">
            <a:pPr>
              <a:defRPr sz="1650" b="0">
                <a:solidFill>
                  <a:srgbClr val="0F172A"/>
                </a:solidFill>
              </a:defRPr>
            </a:pPr>
            <a:r>
              <a:rPr sz="1650" b="0">
                <a:solidFill>
                  <a:srgbClr val="0F172A"/>
                </a:solidFill>
              </a:rPr>
              <a:t>No existing generated/ folder</a:t>
            </a:r>
          </a:p>
        </p:txBody>
      </p:sp>
      <p:sp>
        <p:nvSpPr>
          <p:cNvPr id="6" name="">
            <a:extLst xmlns:a="http://schemas.openxmlformats.org/drawingml/2006/main">
              <a:ext uri="{FF2B5EF4-FFF2-40B4-BE49-F238E27FC236}">
                <a16:creationId xmlns:a16="http://schemas.microsoft.com/office/drawing/2014/main" id="{967D1EF5-DB78-4F7C-BE7A-C20A445BFC46}"/>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A missing dependency stops with a direct error.</a:t>
            </a:r>
          </a:p>
          <a:p xmlns:a="http://schemas.openxmlformats.org/drawingml/2006/main">
            <a:r>
              <a:t/>
            </a:r>
          </a:p>
          <a:p xmlns:a="http://schemas.openxmlformats.org/drawingml/2006/main">
            <a:pPr>
              <a:defRPr sz="1650" b="0">
                <a:solidFill>
                  <a:srgbClr val="0F172A"/>
                </a:solidFill>
              </a:defRPr>
            </a:pPr>
            <a:r>
              <a:rPr sz="1650" b="0">
                <a:solidFill>
                  <a:srgbClr val="0F172A"/>
                </a:solidFill>
              </a:rPr>
              <a:t>The script keeps previously generated worlds intact instead of silently replacing them.</a:t>
            </a:r>
          </a:p>
        </p:txBody>
      </p:sp>
    </p:spTree>
    <p:extLst>
      <p:ext uri="{BB962C8B-B14F-4D97-AF65-F5344CB8AC3E}">
        <p14:creationId xmlns:p14="http://schemas.microsoft.com/office/powerpoint/2010/main" val="14800097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F3742F0-C99B-42AA-80CA-514DC46B6EC7}"/>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prepare_mac.sh: what it creates</a:t>
            </a:r>
          </a:p>
        </p:txBody>
      </p:sp>
      <p:sp>
        <p:nvSpPr>
          <p:cNvPr id="2" name="">
            <a:extLst xmlns:a="http://schemas.openxmlformats.org/drawingml/2006/main">
              <a:ext uri="{FF2B5EF4-FFF2-40B4-BE49-F238E27FC236}">
                <a16:creationId xmlns:a16="http://schemas.microsoft.com/office/drawing/2014/main" id="{ECEFE73D-CE24-4D8E-8B62-957CF46DBA0C}"/>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2 OF 9</a:t>
            </a:r>
          </a:p>
        </p:txBody>
      </p:sp>
      <p:sp>
        <p:nvSpPr>
          <p:cNvPr id="3" name="">
            <a:extLst xmlns:a="http://schemas.openxmlformats.org/drawingml/2006/main">
              <a:ext uri="{FF2B5EF4-FFF2-40B4-BE49-F238E27FC236}">
                <a16:creationId xmlns:a16="http://schemas.microsoft.com/office/drawing/2014/main" id="{25FC5A4C-F0A3-45EF-903B-42B1174024B9}"/>
              </a:ext>
            </a:extLst>
          </p:cNvPr>
          <p:cNvSpPr>
            <a:spLocks xmlns:a="http://schemas.openxmlformats.org/drawingml/2006/main" noGrp="1"/>
          </p:cNvSpPr>
          <p:nvPr/>
        </p:nvSpPr>
        <p:spPr>
          <a:xfrm xmlns:a="http://schemas.openxmlformats.org/drawingml/2006/main">
            <a:off x="762000" y="1590675"/>
            <a:ext cx="1019175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0F172A"/>
                </a:solidFill>
              </a:defRPr>
            </a:defPPr>
            <a:lvl1pPr>
              <a:defRPr sz="1875" b="0">
                <a:solidFill>
                  <a:srgbClr val="0F172A"/>
                </a:solidFill>
              </a:defRPr>
            </a:lvl1pPr>
            <a:lvl2pPr>
              <a:defRPr sz="1875" b="0">
                <a:solidFill>
                  <a:srgbClr val="0F172A"/>
                </a:solidFill>
              </a:defRPr>
            </a:lvl2pPr>
            <a:lvl3pPr>
              <a:defRPr sz="1875" b="0">
                <a:solidFill>
                  <a:srgbClr val="0F172A"/>
                </a:solidFill>
              </a:defRPr>
            </a:lvl3pPr>
            <a:lvl4pPr>
              <a:defRPr sz="1875" b="0">
                <a:solidFill>
                  <a:srgbClr val="0F172A"/>
                </a:solidFill>
              </a:defRPr>
            </a:lvl4pPr>
            <a:lvl5pPr>
              <a:defRPr sz="1875" b="0">
                <a:solidFill>
                  <a:srgbClr val="0F172A"/>
                </a:solidFill>
              </a:defRPr>
            </a:lvl5pPr>
            <a:lvl6pPr>
              <a:defRPr sz="1875" b="0">
                <a:solidFill>
                  <a:srgbClr val="0F172A"/>
                </a:solidFill>
              </a:defRPr>
            </a:lvl6pPr>
            <a:lvl7pPr>
              <a:defRPr sz="1875" b="0">
                <a:solidFill>
                  <a:srgbClr val="0F172A"/>
                </a:solidFill>
              </a:defRPr>
            </a:lvl7pPr>
            <a:lvl8pPr>
              <a:defRPr sz="1875" b="0">
                <a:solidFill>
                  <a:srgbClr val="0F172A"/>
                </a:solidFill>
              </a:defRPr>
            </a:lvl8pPr>
            <a:lvl9pPr>
              <a:defRPr sz="1875" b="0">
                <a:solidFill>
                  <a:srgbClr val="0F172A"/>
                </a:solidFill>
              </a:defRPr>
            </a:lvl9pPr>
          </a:lstStyle>
          <a:p xmlns:a="http://schemas.openxmlformats.org/drawingml/2006/main">
            <a:pPr>
              <a:defRPr sz="1875" b="0">
                <a:solidFill>
                  <a:srgbClr val="0F172A"/>
                </a:solidFill>
              </a:defRPr>
            </a:pPr>
            <a:r>
              <a:rPr sz="1875" b="0">
                <a:solidFill>
                  <a:srgbClr val="0F172A"/>
                </a:solidFill>
              </a:rPr>
              <a:t>1  Clone two pinned dependencies into .local/</a:t>
            </a:r>
          </a:p>
          <a:p xmlns:a="http://schemas.openxmlformats.org/drawingml/2006/main">
            <a:r>
              <a:t/>
            </a:r>
          </a:p>
          <a:p xmlns:a="http://schemas.openxmlformats.org/drawingml/2006/main">
            <a:pPr>
              <a:defRPr sz="1875" b="0">
                <a:solidFill>
                  <a:srgbClr val="0F172A"/>
                </a:solidFill>
              </a:defRPr>
            </a:pPr>
            <a:r>
              <a:rPr sz="1875" b="0">
                <a:solidFill>
                  <a:srgbClr val="0F172A"/>
                </a:solidFill>
              </a:rPr>
              <a:t>2  Apply both included patches</a:t>
            </a:r>
          </a:p>
          <a:p xmlns:a="http://schemas.openxmlformats.org/drawingml/2006/main">
            <a:r>
              <a:t/>
            </a:r>
          </a:p>
          <a:p xmlns:a="http://schemas.openxmlformats.org/drawingml/2006/main">
            <a:pPr>
              <a:defRPr sz="1875" b="0">
                <a:solidFill>
                  <a:srgbClr val="0F172A"/>
                </a:solidFill>
              </a:defRPr>
            </a:pPr>
            <a:r>
              <a:rPr sz="1875" b="0">
                <a:solidFill>
                  <a:srgbClr val="0F172A"/>
                </a:solidFill>
              </a:rPr>
              <a:t>3  Build four Gazebo plugin libraries</a:t>
            </a:r>
          </a:p>
          <a:p xmlns:a="http://schemas.openxmlformats.org/drawingml/2006/main">
            <a:r>
              <a:t/>
            </a:r>
          </a:p>
          <a:p xmlns:a="http://schemas.openxmlformats.org/drawingml/2006/main">
            <a:pPr>
              <a:defRPr sz="1875" b="0">
                <a:solidFill>
                  <a:srgbClr val="0F172A"/>
                </a:solidFill>
              </a:defRPr>
            </a:pPr>
            <a:r>
              <a:rPr sz="1875" b="0">
                <a:solidFill>
                  <a:srgbClr val="0F172A"/>
                </a:solidFill>
              </a:rPr>
              <a:t>4  Generate three BlueROV worlds and parameter files</a:t>
            </a:r>
          </a:p>
          <a:p xmlns:a="http://schemas.openxmlformats.org/drawingml/2006/main">
            <a:r>
              <a:t/>
            </a:r>
          </a:p>
          <a:p xmlns:a="http://schemas.openxmlformats.org/drawingml/2006/main">
            <a:pPr>
              <a:defRPr sz="1875" b="0">
                <a:solidFill>
                  <a:srgbClr val="0F172A"/>
                </a:solidFill>
              </a:defRPr>
            </a:pPr>
            <a:r>
              <a:rPr sz="1875" b="0">
                <a:solidFill>
                  <a:srgbClr val="0F172A"/>
                </a:solidFill>
              </a:rPr>
              <a:t>5  Run static verification</a:t>
            </a:r>
          </a:p>
        </p:txBody>
      </p:sp>
    </p:spTree>
    <p:extLst>
      <p:ext uri="{BB962C8B-B14F-4D97-AF65-F5344CB8AC3E}">
        <p14:creationId xmlns:p14="http://schemas.microsoft.com/office/powerpoint/2010/main" val="36909646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50EE6A-5D8F-42B7-8B35-275D82009B9B}"/>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rov-sim-macos.patch: build support</a:t>
            </a:r>
          </a:p>
        </p:txBody>
      </p:sp>
      <p:sp>
        <p:nvSpPr>
          <p:cNvPr id="2" name="">
            <a:extLst xmlns:a="http://schemas.openxmlformats.org/drawingml/2006/main">
              <a:ext uri="{FF2B5EF4-FFF2-40B4-BE49-F238E27FC236}">
                <a16:creationId xmlns:a16="http://schemas.microsoft.com/office/drawing/2014/main" id="{52C93DA6-D6AF-42A1-8BF1-57B950E356AE}"/>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3 OF 9</a:t>
            </a:r>
          </a:p>
        </p:txBody>
      </p:sp>
      <p:sp>
        <p:nvSpPr>
          <p:cNvPr id="3" name="">
            <a:extLst xmlns:a="http://schemas.openxmlformats.org/drawingml/2006/main">
              <a:ext uri="{FF2B5EF4-FFF2-40B4-BE49-F238E27FC236}">
                <a16:creationId xmlns:a16="http://schemas.microsoft.com/office/drawing/2014/main" id="{222FD1D7-254E-48ED-9FBB-9E65DDA01D5D}"/>
              </a:ext>
            </a:extLst>
          </p:cNvPr>
          <p:cNvSpPr>
            <a:spLocks xmlns:a="http://schemas.openxmlformats.org/drawingml/2006/main" noGrp="1"/>
          </p:cNvSpPr>
          <p:nvPr/>
        </p:nvSpPr>
        <p:spPr>
          <a:xfrm xmlns:a="http://schemas.openxmlformats.org/drawingml/2006/main">
            <a:off x="742950" y="1866900"/>
            <a:ext cx="571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0F172A"/>
                </a:solidFill>
              </a:defRPr>
            </a:defPPr>
            <a:lvl1pPr>
              <a:defRPr sz="1800" b="0">
                <a:solidFill>
                  <a:srgbClr val="0F172A"/>
                </a:solidFill>
              </a:defRPr>
            </a:lvl1pPr>
            <a:lvl2pPr>
              <a:defRPr sz="1800" b="0">
                <a:solidFill>
                  <a:srgbClr val="0F172A"/>
                </a:solidFill>
              </a:defRPr>
            </a:lvl2pPr>
            <a:lvl3pPr>
              <a:defRPr sz="1800" b="0">
                <a:solidFill>
                  <a:srgbClr val="0F172A"/>
                </a:solidFill>
              </a:defRPr>
            </a:lvl3pPr>
            <a:lvl4pPr>
              <a:defRPr sz="1800" b="0">
                <a:solidFill>
                  <a:srgbClr val="0F172A"/>
                </a:solidFill>
              </a:defRPr>
            </a:lvl4pPr>
            <a:lvl5pPr>
              <a:defRPr sz="1800" b="0">
                <a:solidFill>
                  <a:srgbClr val="0F172A"/>
                </a:solidFill>
              </a:defRPr>
            </a:lvl5pPr>
            <a:lvl6pPr>
              <a:defRPr sz="1800" b="0">
                <a:solidFill>
                  <a:srgbClr val="0F172A"/>
                </a:solidFill>
              </a:defRPr>
            </a:lvl6pPr>
            <a:lvl7pPr>
              <a:defRPr sz="1800" b="0">
                <a:solidFill>
                  <a:srgbClr val="0F172A"/>
                </a:solidFill>
              </a:defRPr>
            </a:lvl7pPr>
            <a:lvl8pPr>
              <a:defRPr sz="1800" b="0">
                <a:solidFill>
                  <a:srgbClr val="0F172A"/>
                </a:solidFill>
              </a:defRPr>
            </a:lvl8pPr>
            <a:lvl9pPr>
              <a:defRPr sz="1800" b="0">
                <a:solidFill>
                  <a:srgbClr val="0F172A"/>
                </a:solidFill>
              </a:defRPr>
            </a:lvl9pPr>
          </a:lstStyle>
          <a:p xmlns:a="http://schemas.openxmlformats.org/drawingml/2006/main">
            <a:pPr>
              <a:defRPr sz="1800" b="0">
                <a:solidFill>
                  <a:srgbClr val="0F172A"/>
                </a:solidFill>
              </a:defRPr>
            </a:pPr>
            <a:r>
              <a:rPr sz="1800" b="0">
                <a:solidFill>
                  <a:srgbClr val="0F172A"/>
                </a:solidFill>
              </a:rPr>
              <a:t>+ find_package(Qt5 REQUIRED</a:t>
            </a:r>
          </a:p>
          <a:p xmlns:a="http://schemas.openxmlformats.org/drawingml/2006/main">
            <a:pPr>
              <a:defRPr sz="1800" b="0">
                <a:solidFill>
                  <a:srgbClr val="0F172A"/>
                </a:solidFill>
              </a:defRPr>
            </a:pPr>
            <a:r>
              <a:rPr sz="1800" b="0">
                <a:solidFill>
                  <a:srgbClr val="0F172A"/>
                </a:solidFill>
              </a:rPr>
              <a:t>+   COMPONENTS Core Gui Widgets)</a:t>
            </a:r>
          </a:p>
        </p:txBody>
      </p:sp>
      <p:sp>
        <p:nvSpPr>
          <p:cNvPr id="4" name="">
            <a:extLst xmlns:a="http://schemas.openxmlformats.org/drawingml/2006/main">
              <a:ext uri="{FF2B5EF4-FFF2-40B4-BE49-F238E27FC236}">
                <a16:creationId xmlns:a16="http://schemas.microsoft.com/office/drawing/2014/main" id="{E18BADF2-1AD3-4610-9728-2DA5444E5C92}"/>
              </a:ext>
            </a:extLst>
          </p:cNvPr>
          <p:cNvSpPr>
            <a:spLocks xmlns:a="http://schemas.openxmlformats.org/drawingml/2006/main" noGrp="1"/>
          </p:cNvSpPr>
          <p:nvPr/>
        </p:nvSpPr>
        <p:spPr>
          <a:xfrm xmlns:a="http://schemas.openxmlformats.org/drawingml/2006/main">
            <a:off x="6858000" y="1866900"/>
            <a:ext cx="4381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F172A"/>
                </a:solidFill>
              </a:defRPr>
            </a:defPPr>
            <a:lvl1pPr>
              <a:defRPr sz="1725" b="0">
                <a:solidFill>
                  <a:srgbClr val="0F172A"/>
                </a:solidFill>
              </a:defRPr>
            </a:lvl1pPr>
            <a:lvl2pPr>
              <a:defRPr sz="1725" b="0">
                <a:solidFill>
                  <a:srgbClr val="0F172A"/>
                </a:solidFill>
              </a:defRPr>
            </a:lvl2pPr>
            <a:lvl3pPr>
              <a:defRPr sz="1725" b="0">
                <a:solidFill>
                  <a:srgbClr val="0F172A"/>
                </a:solidFill>
              </a:defRPr>
            </a:lvl3pPr>
            <a:lvl4pPr>
              <a:defRPr sz="1725" b="0">
                <a:solidFill>
                  <a:srgbClr val="0F172A"/>
                </a:solidFill>
              </a:defRPr>
            </a:lvl4pPr>
            <a:lvl5pPr>
              <a:defRPr sz="1725" b="0">
                <a:solidFill>
                  <a:srgbClr val="0F172A"/>
                </a:solidFill>
              </a:defRPr>
            </a:lvl5pPr>
            <a:lvl6pPr>
              <a:defRPr sz="1725" b="0">
                <a:solidFill>
                  <a:srgbClr val="0F172A"/>
                </a:solidFill>
              </a:defRPr>
            </a:lvl6pPr>
            <a:lvl7pPr>
              <a:defRPr sz="1725" b="0">
                <a:solidFill>
                  <a:srgbClr val="0F172A"/>
                </a:solidFill>
              </a:defRPr>
            </a:lvl7pPr>
            <a:lvl8pPr>
              <a:defRPr sz="1725" b="0">
                <a:solidFill>
                  <a:srgbClr val="0F172A"/>
                </a:solidFill>
              </a:defRPr>
            </a:lvl8pPr>
            <a:lvl9pPr>
              <a:defRPr sz="1725" b="0">
                <a:solidFill>
                  <a:srgbClr val="0F172A"/>
                </a:solidFill>
              </a:defRPr>
            </a:lvl9pPr>
          </a:lstStyle>
          <a:p xmlns:a="http://schemas.openxmlformats.org/drawingml/2006/main">
            <a:pPr>
              <a:defRPr sz="1725" b="0">
                <a:solidFill>
                  <a:srgbClr val="0F172A"/>
                </a:solidFill>
              </a:defRPr>
            </a:pPr>
            <a:r>
              <a:rPr sz="1725" b="0">
                <a:solidFill>
                  <a:srgbClr val="0F172A"/>
                </a:solidFill>
              </a:rPr>
              <a:t>CMake is the build recipe. This one-line patch helps the Gazebo plugin build find Qt on macOS. The generated model still supplies the ROV geometry.</a:t>
            </a:r>
          </a:p>
        </p:txBody>
      </p:sp>
    </p:spTree>
    <p:extLst>
      <p:ext uri="{BB962C8B-B14F-4D97-AF65-F5344CB8AC3E}">
        <p14:creationId xmlns:p14="http://schemas.microsoft.com/office/powerpoint/2010/main" val="1483829130"/>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48421B-3C55-4D50-9755-605AAA1F9CAF}"/>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Connector patch: match the ESC message</a:t>
            </a:r>
          </a:p>
        </p:txBody>
      </p:sp>
      <p:sp>
        <p:nvSpPr>
          <p:cNvPr id="2" name="">
            <a:extLst xmlns:a="http://schemas.openxmlformats.org/drawingml/2006/main">
              <a:ext uri="{FF2B5EF4-FFF2-40B4-BE49-F238E27FC236}">
                <a16:creationId xmlns:a16="http://schemas.microsoft.com/office/drawing/2014/main" id="{699076EB-4A90-4A3E-871D-9B34B4B9DA34}"/>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4 OF 9</a:t>
            </a:r>
          </a:p>
        </p:txBody>
      </p:sp>
      <p:sp>
        <p:nvSpPr>
          <p:cNvPr id="3" name="">
            <a:extLst xmlns:a="http://schemas.openxmlformats.org/drawingml/2006/main">
              <a:ext uri="{FF2B5EF4-FFF2-40B4-BE49-F238E27FC236}">
                <a16:creationId xmlns:a16="http://schemas.microsoft.com/office/drawing/2014/main" id="{3EFFA39D-38EB-481F-992D-ACB3FDEFB4B0}"/>
              </a:ext>
            </a:extLst>
          </p:cNvPr>
          <p:cNvSpPr>
            <a:spLocks xmlns:a="http://schemas.openxmlformats.org/drawingml/2006/main" noGrp="1"/>
          </p:cNvSpPr>
          <p:nvPr/>
        </p:nvSpPr>
        <p:spPr>
          <a:xfrm xmlns:a="http://schemas.openxmlformats.org/drawingml/2006/main">
            <a:off x="762000" y="1695450"/>
            <a:ext cx="1047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0F172A"/>
                </a:solidFill>
              </a:defRPr>
            </a:defPPr>
            <a:lvl1pPr>
              <a:defRPr sz="1800" b="0">
                <a:solidFill>
                  <a:srgbClr val="0F172A"/>
                </a:solidFill>
              </a:defRPr>
            </a:lvl1pPr>
            <a:lvl2pPr>
              <a:defRPr sz="1800" b="0">
                <a:solidFill>
                  <a:srgbClr val="0F172A"/>
                </a:solidFill>
              </a:defRPr>
            </a:lvl2pPr>
            <a:lvl3pPr>
              <a:defRPr sz="1800" b="0">
                <a:solidFill>
                  <a:srgbClr val="0F172A"/>
                </a:solidFill>
              </a:defRPr>
            </a:lvl3pPr>
            <a:lvl4pPr>
              <a:defRPr sz="1800" b="0">
                <a:solidFill>
                  <a:srgbClr val="0F172A"/>
                </a:solidFill>
              </a:defRPr>
            </a:lvl4pPr>
            <a:lvl5pPr>
              <a:defRPr sz="1800" b="0">
                <a:solidFill>
                  <a:srgbClr val="0F172A"/>
                </a:solidFill>
              </a:defRPr>
            </a:lvl5pPr>
            <a:lvl6pPr>
              <a:defRPr sz="1800" b="0">
                <a:solidFill>
                  <a:srgbClr val="0F172A"/>
                </a:solidFill>
              </a:defRPr>
            </a:lvl6pPr>
            <a:lvl7pPr>
              <a:defRPr sz="1800" b="0">
                <a:solidFill>
                  <a:srgbClr val="0F172A"/>
                </a:solidFill>
              </a:defRPr>
            </a:lvl7pPr>
            <a:lvl8pPr>
              <a:defRPr sz="1800" b="0">
                <a:solidFill>
                  <a:srgbClr val="0F172A"/>
                </a:solidFill>
              </a:defRPr>
            </a:lvl8pPr>
            <a:lvl9pPr>
              <a:defRPr sz="1800" b="0">
                <a:solidFill>
                  <a:srgbClr val="0F172A"/>
                </a:solidFill>
              </a:defRPr>
            </a:lvl9pPr>
          </a:lstStyle>
          <a:p xmlns:a="http://schemas.openxmlformats.org/drawingml/2006/main">
            <a:pPr>
              <a:defRPr sz="1800" b="0">
                <a:solidFill>
                  <a:srgbClr val="0F172A"/>
                </a:solidFill>
              </a:defRPr>
            </a:pPr>
            <a:r>
              <a:rPr sz="1800" b="0">
                <a:solidFill>
                  <a:srgbClr val="0F172A"/>
                </a:solidFill>
              </a:rPr>
              <a:t>Before: Advertise&lt;msgs::Double&gt;()</a:t>
            </a:r>
          </a:p>
          <a:p xmlns:a="http://schemas.openxmlformats.org/drawingml/2006/main">
            <a:pPr>
              <a:defRPr sz="1800" b="0">
                <a:solidFill>
                  <a:srgbClr val="0F172A"/>
                </a:solidFill>
              </a:defRPr>
            </a:pPr>
            <a:r>
              <a:rPr sz="1800" b="0">
                <a:solidFill>
                  <a:srgbClr val="0F172A"/>
                </a:solidFill>
              </a:rPr>
              <a:t>After:  Advertise&lt;msgs::Int32&gt;()</a:t>
            </a:r>
          </a:p>
          <a:p xmlns:a="http://schemas.openxmlformats.org/drawingml/2006/main">
            <a:r>
              <a:t/>
            </a:r>
          </a:p>
          <a:p xmlns:a="http://schemas.openxmlformats.org/drawingml/2006/main">
            <a:pPr>
              <a:defRPr sz="1800" b="0">
                <a:solidFill>
                  <a:srgbClr val="0F172A"/>
                </a:solidFill>
              </a:defRPr>
            </a:pPr>
            <a:r>
              <a:rPr sz="1800" b="0">
                <a:solidFill>
                  <a:srgbClr val="0F172A"/>
                </a:solidFill>
              </a:rPr>
              <a:t>Before: cmd.set_data(value)</a:t>
            </a:r>
          </a:p>
          <a:p xmlns:a="http://schemas.openxmlformats.org/drawingml/2006/main">
            <a:pPr>
              <a:defRPr sz="1800" b="0">
                <a:solidFill>
                  <a:srgbClr val="0F172A"/>
                </a:solidFill>
              </a:defRPr>
            </a:pPr>
            <a:r>
              <a:rPr sz="1800" b="0">
                <a:solidFill>
                  <a:srgbClr val="0F172A"/>
                </a:solidFill>
              </a:rPr>
              <a:t>After:  cmd.set_data(lround(value))</a:t>
            </a:r>
          </a:p>
        </p:txBody>
      </p:sp>
      <p:sp>
        <p:nvSpPr>
          <p:cNvPr id="4" name="">
            <a:extLst xmlns:a="http://schemas.openxmlformats.org/drawingml/2006/main">
              <a:ext uri="{FF2B5EF4-FFF2-40B4-BE49-F238E27FC236}">
                <a16:creationId xmlns:a16="http://schemas.microsoft.com/office/drawing/2014/main" id="{B178C31F-00B6-460D-8651-33341D7BB3F2}"/>
              </a:ext>
            </a:extLst>
          </p:cNvPr>
          <p:cNvSpPr>
            <a:spLocks xmlns:a="http://schemas.openxmlformats.org/drawingml/2006/main" noGrp="1"/>
          </p:cNvSpPr>
          <p:nvPr/>
        </p:nvSpPr>
        <p:spPr>
          <a:xfrm xmlns:a="http://schemas.openxmlformats.org/drawingml/2006/main">
            <a:off x="781050" y="4686300"/>
            <a:ext cx="10001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F172A"/>
                </a:solidFill>
              </a:defRPr>
            </a:defPPr>
            <a:lvl1pPr>
              <a:defRPr sz="1725" b="0">
                <a:solidFill>
                  <a:srgbClr val="0F172A"/>
                </a:solidFill>
              </a:defRPr>
            </a:lvl1pPr>
            <a:lvl2pPr>
              <a:defRPr sz="1725" b="0">
                <a:solidFill>
                  <a:srgbClr val="0F172A"/>
                </a:solidFill>
              </a:defRPr>
            </a:lvl2pPr>
            <a:lvl3pPr>
              <a:defRPr sz="1725" b="0">
                <a:solidFill>
                  <a:srgbClr val="0F172A"/>
                </a:solidFill>
              </a:defRPr>
            </a:lvl3pPr>
            <a:lvl4pPr>
              <a:defRPr sz="1725" b="0">
                <a:solidFill>
                  <a:srgbClr val="0F172A"/>
                </a:solidFill>
              </a:defRPr>
            </a:lvl4pPr>
            <a:lvl5pPr>
              <a:defRPr sz="1725" b="0">
                <a:solidFill>
                  <a:srgbClr val="0F172A"/>
                </a:solidFill>
              </a:defRPr>
            </a:lvl5pPr>
            <a:lvl6pPr>
              <a:defRPr sz="1725" b="0">
                <a:solidFill>
                  <a:srgbClr val="0F172A"/>
                </a:solidFill>
              </a:defRPr>
            </a:lvl6pPr>
            <a:lvl7pPr>
              <a:defRPr sz="1725" b="0">
                <a:solidFill>
                  <a:srgbClr val="0F172A"/>
                </a:solidFill>
              </a:defRPr>
            </a:lvl7pPr>
            <a:lvl8pPr>
              <a:defRPr sz="1725" b="0">
                <a:solidFill>
                  <a:srgbClr val="0F172A"/>
                </a:solidFill>
              </a:defRPr>
            </a:lvl8pPr>
            <a:lvl9pPr>
              <a:defRPr sz="1725" b="0">
                <a:solidFill>
                  <a:srgbClr val="0F172A"/>
                </a:solidFill>
              </a:defRPr>
            </a:lvl9pPr>
          </a:lstStyle>
          <a:p xmlns:a="http://schemas.openxmlformats.org/drawingml/2006/main">
            <a:pPr>
              <a:defRPr sz="1725" b="0">
                <a:solidFill>
                  <a:srgbClr val="0F172A"/>
                </a:solidFill>
              </a:defRPr>
            </a:pPr>
            <a:r>
              <a:rPr sz="1725" b="0">
                <a:solidFill>
                  <a:srgbClr val="0F172A"/>
                </a:solidFill>
              </a:rPr>
              <a:t>Gazebo topics have a type. A publisher using Double and a subscriber expecting Int32 cannot exchange the motor command as intended.</a:t>
            </a:r>
          </a:p>
        </p:txBody>
      </p:sp>
    </p:spTree>
    <p:extLst>
      <p:ext uri="{BB962C8B-B14F-4D97-AF65-F5344CB8AC3E}">
        <p14:creationId xmlns:p14="http://schemas.microsoft.com/office/powerpoint/2010/main" val="1272190476"/>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BEAC6D-602F-4AE6-A612-5CCC8B13E4D9}"/>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generate.py: three frame definitions</a:t>
            </a:r>
          </a:p>
        </p:txBody>
      </p:sp>
      <p:sp>
        <p:nvSpPr>
          <p:cNvPr id="2" name="">
            <a:extLst xmlns:a="http://schemas.openxmlformats.org/drawingml/2006/main">
              <a:ext uri="{FF2B5EF4-FFF2-40B4-BE49-F238E27FC236}">
                <a16:creationId xmlns:a16="http://schemas.microsoft.com/office/drawing/2014/main" id="{FD052F76-00CB-4C15-B306-1AB4230E84EC}"/>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5 OF 9</a:t>
            </a:r>
          </a:p>
        </p:txBody>
      </p:sp>
      <p:sp>
        <p:nvSpPr>
          <p:cNvPr id="3" name="">
            <a:extLst xmlns:a="http://schemas.openxmlformats.org/drawingml/2006/main">
              <a:ext uri="{FF2B5EF4-FFF2-40B4-BE49-F238E27FC236}">
                <a16:creationId xmlns:a16="http://schemas.microsoft.com/office/drawing/2014/main" id="{D5A17CC8-335A-4011-8D27-0804DD96F637}"/>
              </a:ext>
            </a:extLst>
          </p:cNvPr>
          <p:cNvSpPr>
            <a:spLocks xmlns:a="http://schemas.openxmlformats.org/drawingml/2006/main" noGrp="1"/>
          </p:cNvSpPr>
          <p:nvPr/>
        </p:nvSpPr>
        <p:spPr>
          <a:xfrm xmlns:a="http://schemas.openxmlformats.org/drawingml/2006/main">
            <a:off x="714375" y="18097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Frame</a:t>
            </a:r>
          </a:p>
        </p:txBody>
      </p:sp>
      <p:sp>
        <p:nvSpPr>
          <p:cNvPr id="4" name="">
            <a:extLst xmlns:a="http://schemas.openxmlformats.org/drawingml/2006/main">
              <a:ext uri="{FF2B5EF4-FFF2-40B4-BE49-F238E27FC236}">
                <a16:creationId xmlns:a16="http://schemas.microsoft.com/office/drawing/2014/main" id="{2EBF186D-24D6-4E41-9AE0-23A6917AE27C}"/>
              </a:ext>
            </a:extLst>
          </p:cNvPr>
          <p:cNvSpPr>
            <a:spLocks xmlns:a="http://schemas.openxmlformats.org/drawingml/2006/main" noGrp="1"/>
          </p:cNvSpPr>
          <p:nvPr/>
        </p:nvSpPr>
        <p:spPr>
          <a:xfrm xmlns:a="http://schemas.openxmlformats.org/drawingml/2006/main">
            <a:off x="4762500" y="1809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FRAME_CONFIG</a:t>
            </a:r>
          </a:p>
        </p:txBody>
      </p:sp>
      <p:sp>
        <p:nvSpPr>
          <p:cNvPr id="5" name="">
            <a:extLst xmlns:a="http://schemas.openxmlformats.org/drawingml/2006/main">
              <a:ext uri="{FF2B5EF4-FFF2-40B4-BE49-F238E27FC236}">
                <a16:creationId xmlns:a16="http://schemas.microsoft.com/office/drawing/2014/main" id="{EB7A0D98-0489-4D3F-A650-3D60D2155CC3}"/>
              </a:ext>
            </a:extLst>
          </p:cNvPr>
          <p:cNvSpPr>
            <a:spLocks xmlns:a="http://schemas.openxmlformats.org/drawingml/2006/main" noGrp="1"/>
          </p:cNvSpPr>
          <p:nvPr/>
        </p:nvSpPr>
        <p:spPr>
          <a:xfrm xmlns:a="http://schemas.openxmlformats.org/drawingml/2006/main">
            <a:off x="790575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Motors</a:t>
            </a:r>
          </a:p>
        </p:txBody>
      </p:sp>
      <p:sp>
        <p:nvSpPr>
          <p:cNvPr id="6" name="">
            <a:extLst xmlns:a="http://schemas.openxmlformats.org/drawingml/2006/main">
              <a:ext uri="{FF2B5EF4-FFF2-40B4-BE49-F238E27FC236}">
                <a16:creationId xmlns:a16="http://schemas.microsoft.com/office/drawing/2014/main" id="{2B19CD52-2A7A-41DE-98C3-6E78C461DCD8}"/>
              </a:ext>
            </a:extLst>
          </p:cNvPr>
          <p:cNvSpPr>
            <a:spLocks xmlns:a="http://schemas.openxmlformats.org/drawingml/2006/main" noGrp="1"/>
          </p:cNvSpPr>
          <p:nvPr/>
        </p:nvSpPr>
        <p:spPr>
          <a:xfrm xmlns:a="http://schemas.openxmlformats.org/drawingml/2006/main">
            <a:off x="714375" y="2381250"/>
            <a:ext cx="3429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F172A"/>
                </a:solidFill>
              </a:defRPr>
            </a:defPPr>
            <a:lvl1pPr>
              <a:defRPr sz="1950" b="0">
                <a:solidFill>
                  <a:srgbClr val="0F172A"/>
                </a:solidFill>
              </a:defRPr>
            </a:lvl1pPr>
            <a:lvl2pPr>
              <a:defRPr sz="1950" b="0">
                <a:solidFill>
                  <a:srgbClr val="0F172A"/>
                </a:solidFill>
              </a:defRPr>
            </a:lvl2pPr>
            <a:lvl3pPr>
              <a:defRPr sz="1950" b="0">
                <a:solidFill>
                  <a:srgbClr val="0F172A"/>
                </a:solidFill>
              </a:defRPr>
            </a:lvl3pPr>
            <a:lvl4pPr>
              <a:defRPr sz="1950" b="0">
                <a:solidFill>
                  <a:srgbClr val="0F172A"/>
                </a:solidFill>
              </a:defRPr>
            </a:lvl4pPr>
            <a:lvl5pPr>
              <a:defRPr sz="1950" b="0">
                <a:solidFill>
                  <a:srgbClr val="0F172A"/>
                </a:solidFill>
              </a:defRPr>
            </a:lvl5pPr>
            <a:lvl6pPr>
              <a:defRPr sz="1950" b="0">
                <a:solidFill>
                  <a:srgbClr val="0F172A"/>
                </a:solidFill>
              </a:defRPr>
            </a:lvl6pPr>
            <a:lvl7pPr>
              <a:defRPr sz="1950" b="0">
                <a:solidFill>
                  <a:srgbClr val="0F172A"/>
                </a:solidFill>
              </a:defRPr>
            </a:lvl7pPr>
            <a:lvl8pPr>
              <a:defRPr sz="1950" b="0">
                <a:solidFill>
                  <a:srgbClr val="0F172A"/>
                </a:solidFill>
              </a:defRPr>
            </a:lvl8pPr>
            <a:lvl9pPr>
              <a:defRPr sz="1950" b="0">
                <a:solidFill>
                  <a:srgbClr val="0F172A"/>
                </a:solidFill>
              </a:defRPr>
            </a:lvl9pPr>
          </a:lstStyle>
          <a:p xmlns:a="http://schemas.openxmlformats.org/drawingml/2006/main">
            <a:pPr>
              <a:defRPr sz="1950" b="0">
                <a:solidFill>
                  <a:srgbClr val="0F172A"/>
                </a:solidFill>
              </a:defRPr>
            </a:pPr>
            <a:r>
              <a:rPr sz="1950" b="0">
                <a:solidFill>
                  <a:srgbClr val="0F172A"/>
                </a:solidFill>
              </a:rPr>
              <a:t>BlueROV1</a:t>
            </a:r>
          </a:p>
          <a:p xmlns:a="http://schemas.openxmlformats.org/drawingml/2006/main">
            <a:r>
              <a:t/>
            </a:r>
          </a:p>
          <a:p xmlns:a="http://schemas.openxmlformats.org/drawingml/2006/main">
            <a:pPr>
              <a:defRPr sz="1950" b="0">
                <a:solidFill>
                  <a:srgbClr val="0F172A"/>
                </a:solidFill>
              </a:defRPr>
            </a:pPr>
            <a:r>
              <a:rPr sz="1950" b="0">
                <a:solidFill>
                  <a:srgbClr val="0F172A"/>
                </a:solidFill>
              </a:rPr>
              <a:t>BlueROV2</a:t>
            </a:r>
          </a:p>
          <a:p xmlns:a="http://schemas.openxmlformats.org/drawingml/2006/main">
            <a:r>
              <a:t/>
            </a:r>
          </a:p>
          <a:p xmlns:a="http://schemas.openxmlformats.org/drawingml/2006/main">
            <a:pPr>
              <a:defRPr sz="1950" b="0">
                <a:solidFill>
                  <a:srgbClr val="0F172A"/>
                </a:solidFill>
              </a:defRPr>
            </a:pPr>
            <a:r>
              <a:rPr sz="1950" b="0">
                <a:solidFill>
                  <a:srgbClr val="0F172A"/>
                </a:solidFill>
              </a:rPr>
              <a:t>BlueROV2 Heavy</a:t>
            </a:r>
          </a:p>
        </p:txBody>
      </p:sp>
      <p:sp>
        <p:nvSpPr>
          <p:cNvPr id="7" name="">
            <a:extLst xmlns:a="http://schemas.openxmlformats.org/drawingml/2006/main">
              <a:ext uri="{FF2B5EF4-FFF2-40B4-BE49-F238E27FC236}">
                <a16:creationId xmlns:a16="http://schemas.microsoft.com/office/drawing/2014/main" id="{27892A4B-6CE3-46C7-AC61-803B1F6D659B}"/>
              </a:ext>
            </a:extLst>
          </p:cNvPr>
          <p:cNvSpPr>
            <a:spLocks xmlns:a="http://schemas.openxmlformats.org/drawingml/2006/main" noGrp="1"/>
          </p:cNvSpPr>
          <p:nvPr/>
        </p:nvSpPr>
        <p:spPr>
          <a:xfrm xmlns:a="http://schemas.openxmlformats.org/drawingml/2006/main">
            <a:off x="4762500" y="2381250"/>
            <a:ext cx="1619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F172A"/>
                </a:solidFill>
              </a:defRPr>
            </a:defPPr>
            <a:lvl1pPr>
              <a:defRPr sz="1950" b="0">
                <a:solidFill>
                  <a:srgbClr val="0F172A"/>
                </a:solidFill>
              </a:defRPr>
            </a:lvl1pPr>
            <a:lvl2pPr>
              <a:defRPr sz="1950" b="0">
                <a:solidFill>
                  <a:srgbClr val="0F172A"/>
                </a:solidFill>
              </a:defRPr>
            </a:lvl2pPr>
            <a:lvl3pPr>
              <a:defRPr sz="1950" b="0">
                <a:solidFill>
                  <a:srgbClr val="0F172A"/>
                </a:solidFill>
              </a:defRPr>
            </a:lvl3pPr>
            <a:lvl4pPr>
              <a:defRPr sz="1950" b="0">
                <a:solidFill>
                  <a:srgbClr val="0F172A"/>
                </a:solidFill>
              </a:defRPr>
            </a:lvl4pPr>
            <a:lvl5pPr>
              <a:defRPr sz="1950" b="0">
                <a:solidFill>
                  <a:srgbClr val="0F172A"/>
                </a:solidFill>
              </a:defRPr>
            </a:lvl5pPr>
            <a:lvl6pPr>
              <a:defRPr sz="1950" b="0">
                <a:solidFill>
                  <a:srgbClr val="0F172A"/>
                </a:solidFill>
              </a:defRPr>
            </a:lvl6pPr>
            <a:lvl7pPr>
              <a:defRPr sz="1950" b="0">
                <a:solidFill>
                  <a:srgbClr val="0F172A"/>
                </a:solidFill>
              </a:defRPr>
            </a:lvl7pPr>
            <a:lvl8pPr>
              <a:defRPr sz="1950" b="0">
                <a:solidFill>
                  <a:srgbClr val="0F172A"/>
                </a:solidFill>
              </a:defRPr>
            </a:lvl8pPr>
            <a:lvl9pPr>
              <a:defRPr sz="1950" b="0">
                <a:solidFill>
                  <a:srgbClr val="0F172A"/>
                </a:solidFill>
              </a:defRPr>
            </a:lvl9pPr>
          </a:lstStyle>
          <a:p xmlns:a="http://schemas.openxmlformats.org/drawingml/2006/main">
            <a:pPr>
              <a:defRPr sz="1950" b="0">
                <a:solidFill>
                  <a:srgbClr val="0F172A"/>
                </a:solidFill>
              </a:defRPr>
            </a:pPr>
            <a:r>
              <a:rPr sz="1950" b="0">
                <a:solidFill>
                  <a:srgbClr val="0F172A"/>
                </a:solidFill>
              </a:rPr>
              <a:t>0</a:t>
            </a:r>
          </a:p>
          <a:p xmlns:a="http://schemas.openxmlformats.org/drawingml/2006/main">
            <a:r>
              <a:t/>
            </a:r>
          </a:p>
          <a:p xmlns:a="http://schemas.openxmlformats.org/drawingml/2006/main">
            <a:pPr>
              <a:defRPr sz="1950" b="0">
                <a:solidFill>
                  <a:srgbClr val="0F172A"/>
                </a:solidFill>
              </a:defRPr>
            </a:pPr>
            <a:r>
              <a:rPr sz="1950" b="0">
                <a:solidFill>
                  <a:srgbClr val="0F172A"/>
                </a:solidFill>
              </a:rPr>
              <a:t>1</a:t>
            </a:r>
          </a:p>
          <a:p xmlns:a="http://schemas.openxmlformats.org/drawingml/2006/main">
            <a:r>
              <a:t/>
            </a:r>
          </a:p>
          <a:p xmlns:a="http://schemas.openxmlformats.org/drawingml/2006/main">
            <a:pPr>
              <a:defRPr sz="1950" b="0">
                <a:solidFill>
                  <a:srgbClr val="0F172A"/>
                </a:solidFill>
              </a:defRPr>
            </a:pPr>
            <a:r>
              <a:rPr sz="1950" b="0">
                <a:solidFill>
                  <a:srgbClr val="0F172A"/>
                </a:solidFill>
              </a:rPr>
              <a:t>2</a:t>
            </a:r>
          </a:p>
        </p:txBody>
      </p:sp>
      <p:sp>
        <p:nvSpPr>
          <p:cNvPr id="8" name="">
            <a:extLst xmlns:a="http://schemas.openxmlformats.org/drawingml/2006/main">
              <a:ext uri="{FF2B5EF4-FFF2-40B4-BE49-F238E27FC236}">
                <a16:creationId xmlns:a16="http://schemas.microsoft.com/office/drawing/2014/main" id="{4CFF70FB-6466-488D-B28C-3D4783587357}"/>
              </a:ext>
            </a:extLst>
          </p:cNvPr>
          <p:cNvSpPr>
            <a:spLocks xmlns:a="http://schemas.openxmlformats.org/drawingml/2006/main" noGrp="1"/>
          </p:cNvSpPr>
          <p:nvPr/>
        </p:nvSpPr>
        <p:spPr>
          <a:xfrm xmlns:a="http://schemas.openxmlformats.org/drawingml/2006/main">
            <a:off x="7905750" y="2381250"/>
            <a:ext cx="1619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F172A"/>
                </a:solidFill>
              </a:defRPr>
            </a:defPPr>
            <a:lvl1pPr>
              <a:defRPr sz="1950" b="0">
                <a:solidFill>
                  <a:srgbClr val="0F172A"/>
                </a:solidFill>
              </a:defRPr>
            </a:lvl1pPr>
            <a:lvl2pPr>
              <a:defRPr sz="1950" b="0">
                <a:solidFill>
                  <a:srgbClr val="0F172A"/>
                </a:solidFill>
              </a:defRPr>
            </a:lvl2pPr>
            <a:lvl3pPr>
              <a:defRPr sz="1950" b="0">
                <a:solidFill>
                  <a:srgbClr val="0F172A"/>
                </a:solidFill>
              </a:defRPr>
            </a:lvl3pPr>
            <a:lvl4pPr>
              <a:defRPr sz="1950" b="0">
                <a:solidFill>
                  <a:srgbClr val="0F172A"/>
                </a:solidFill>
              </a:defRPr>
            </a:lvl4pPr>
            <a:lvl5pPr>
              <a:defRPr sz="1950" b="0">
                <a:solidFill>
                  <a:srgbClr val="0F172A"/>
                </a:solidFill>
              </a:defRPr>
            </a:lvl5pPr>
            <a:lvl6pPr>
              <a:defRPr sz="1950" b="0">
                <a:solidFill>
                  <a:srgbClr val="0F172A"/>
                </a:solidFill>
              </a:defRPr>
            </a:lvl6pPr>
            <a:lvl7pPr>
              <a:defRPr sz="1950" b="0">
                <a:solidFill>
                  <a:srgbClr val="0F172A"/>
                </a:solidFill>
              </a:defRPr>
            </a:lvl7pPr>
            <a:lvl8pPr>
              <a:defRPr sz="1950" b="0">
                <a:solidFill>
                  <a:srgbClr val="0F172A"/>
                </a:solidFill>
              </a:defRPr>
            </a:lvl8pPr>
            <a:lvl9pPr>
              <a:defRPr sz="1950" b="0">
                <a:solidFill>
                  <a:srgbClr val="0F172A"/>
                </a:solidFill>
              </a:defRPr>
            </a:lvl9pPr>
          </a:lstStyle>
          <a:p xmlns:a="http://schemas.openxmlformats.org/drawingml/2006/main">
            <a:pPr>
              <a:defRPr sz="1950" b="0">
                <a:solidFill>
                  <a:srgbClr val="0F172A"/>
                </a:solidFill>
              </a:defRPr>
            </a:pPr>
            <a:r>
              <a:rPr sz="1950" b="0">
                <a:solidFill>
                  <a:srgbClr val="0F172A"/>
                </a:solidFill>
              </a:rPr>
              <a:t>6</a:t>
            </a:r>
          </a:p>
          <a:p xmlns:a="http://schemas.openxmlformats.org/drawingml/2006/main">
            <a:r>
              <a:t/>
            </a:r>
          </a:p>
          <a:p xmlns:a="http://schemas.openxmlformats.org/drawingml/2006/main">
            <a:pPr>
              <a:defRPr sz="1950" b="0">
                <a:solidFill>
                  <a:srgbClr val="0F172A"/>
                </a:solidFill>
              </a:defRPr>
            </a:pPr>
            <a:r>
              <a:rPr sz="1950" b="0">
                <a:solidFill>
                  <a:srgbClr val="0F172A"/>
                </a:solidFill>
              </a:rPr>
              <a:t>6</a:t>
            </a:r>
          </a:p>
          <a:p xmlns:a="http://schemas.openxmlformats.org/drawingml/2006/main">
            <a:r>
              <a:t/>
            </a:r>
          </a:p>
          <a:p xmlns:a="http://schemas.openxmlformats.org/drawingml/2006/main">
            <a:pPr>
              <a:defRPr sz="1950" b="0">
                <a:solidFill>
                  <a:srgbClr val="0F172A"/>
                </a:solidFill>
              </a:defRPr>
            </a:pPr>
            <a:r>
              <a:rPr sz="1950" b="0">
                <a:solidFill>
                  <a:srgbClr val="0F172A"/>
                </a:solidFill>
              </a:rPr>
              <a:t>8</a:t>
            </a:r>
          </a:p>
        </p:txBody>
      </p:sp>
      <p:sp>
        <p:nvSpPr>
          <p:cNvPr id="9" name="">
            <a:extLst xmlns:a="http://schemas.openxmlformats.org/drawingml/2006/main">
              <a:ext uri="{FF2B5EF4-FFF2-40B4-BE49-F238E27FC236}">
                <a16:creationId xmlns:a16="http://schemas.microsoft.com/office/drawing/2014/main" id="{BEE96782-5A3F-4E97-B1C8-E733F5AF80A4}"/>
              </a:ext>
            </a:extLst>
          </p:cNvPr>
          <p:cNvSpPr>
            <a:spLocks xmlns:a="http://schemas.openxmlformats.org/drawingml/2006/main" noGrp="1"/>
          </p:cNvSpPr>
          <p:nvPr/>
        </p:nvSpPr>
        <p:spPr>
          <a:xfrm xmlns:a="http://schemas.openxmlformats.org/drawingml/2006/main">
            <a:off x="723900" y="56769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75569"/>
                </a:solidFill>
              </a:defRPr>
            </a:defPPr>
            <a:lvl1pPr>
              <a:defRPr sz="1575" b="0">
                <a:solidFill>
                  <a:srgbClr val="475569"/>
                </a:solidFill>
              </a:defRPr>
            </a:lvl1pPr>
            <a:lvl2pPr>
              <a:defRPr sz="1575" b="0">
                <a:solidFill>
                  <a:srgbClr val="475569"/>
                </a:solidFill>
              </a:defRPr>
            </a:lvl2pPr>
            <a:lvl3pPr>
              <a:defRPr sz="1575" b="0">
                <a:solidFill>
                  <a:srgbClr val="475569"/>
                </a:solidFill>
              </a:defRPr>
            </a:lvl3pPr>
            <a:lvl4pPr>
              <a:defRPr sz="1575" b="0">
                <a:solidFill>
                  <a:srgbClr val="475569"/>
                </a:solidFill>
              </a:defRPr>
            </a:lvl4pPr>
            <a:lvl5pPr>
              <a:defRPr sz="1575" b="0">
                <a:solidFill>
                  <a:srgbClr val="475569"/>
                </a:solidFill>
              </a:defRPr>
            </a:lvl5pPr>
            <a:lvl6pPr>
              <a:defRPr sz="1575" b="0">
                <a:solidFill>
                  <a:srgbClr val="475569"/>
                </a:solidFill>
              </a:defRPr>
            </a:lvl6pPr>
            <a:lvl7pPr>
              <a:defRPr sz="1575" b="0">
                <a:solidFill>
                  <a:srgbClr val="475569"/>
                </a:solidFill>
              </a:defRPr>
            </a:lvl7pPr>
            <a:lvl8pPr>
              <a:defRPr sz="1575" b="0">
                <a:solidFill>
                  <a:srgbClr val="475569"/>
                </a:solidFill>
              </a:defRPr>
            </a:lvl8pPr>
            <a:lvl9pPr>
              <a:defRPr sz="1575" b="0">
                <a:solidFill>
                  <a:srgbClr val="475569"/>
                </a:solidFill>
              </a:defRPr>
            </a:lvl9pPr>
          </a:lstStyle>
          <a:p xmlns:a="http://schemas.openxmlformats.org/drawingml/2006/main">
            <a:pPr>
              <a:defRPr sz="1575" b="0">
                <a:solidFill>
                  <a:srgbClr val="475569"/>
                </a:solidFill>
              </a:defRPr>
            </a:pPr>
            <a:r>
              <a:rPr sz="1575" b="0">
                <a:solidFill>
                  <a:srgbClr val="475569"/>
                </a:solidFill>
              </a:rPr>
              <a:t>Each motor row: roll, pitch, yaw, vertical, forward, sideways</a:t>
            </a:r>
          </a:p>
        </p:txBody>
      </p:sp>
    </p:spTree>
    <p:extLst>
      <p:ext uri="{BB962C8B-B14F-4D97-AF65-F5344CB8AC3E}">
        <p14:creationId xmlns:p14="http://schemas.microsoft.com/office/powerpoint/2010/main" val="1519570321"/>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D1E659-F950-4448-96A9-4E39D9148EB3}"/>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generate.py: convert axes and place motors</a:t>
            </a:r>
          </a:p>
        </p:txBody>
      </p:sp>
      <p:sp>
        <p:nvSpPr>
          <p:cNvPr id="2" name="">
            <a:extLst xmlns:a="http://schemas.openxmlformats.org/drawingml/2006/main">
              <a:ext uri="{FF2B5EF4-FFF2-40B4-BE49-F238E27FC236}">
                <a16:creationId xmlns:a16="http://schemas.microsoft.com/office/drawing/2014/main" id="{4BC639AC-DB9C-4E9E-871A-D931B9B72D93}"/>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5 OF 9</a:t>
            </a:r>
          </a:p>
        </p:txBody>
      </p:sp>
      <p:sp>
        <p:nvSpPr>
          <p:cNvPr id="3" name="">
            <a:extLst xmlns:a="http://schemas.openxmlformats.org/drawingml/2006/main">
              <a:ext uri="{FF2B5EF4-FFF2-40B4-BE49-F238E27FC236}">
                <a16:creationId xmlns:a16="http://schemas.microsoft.com/office/drawing/2014/main" id="{52335F25-992A-48E2-88D9-1A93BCEE31B8}"/>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ArduSub convention</a:t>
            </a:r>
          </a:p>
        </p:txBody>
      </p:sp>
      <p:sp>
        <p:nvSpPr>
          <p:cNvPr id="4" name="">
            <a:extLst xmlns:a="http://schemas.openxmlformats.org/drawingml/2006/main">
              <a:ext uri="{FF2B5EF4-FFF2-40B4-BE49-F238E27FC236}">
                <a16:creationId xmlns:a16="http://schemas.microsoft.com/office/drawing/2014/main" id="{9FDDE2DB-51E6-4638-8988-4D20C00BA6CE}"/>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Gazebo model convention</a:t>
            </a:r>
          </a:p>
        </p:txBody>
      </p:sp>
      <p:sp>
        <p:nvSpPr>
          <p:cNvPr id="5" name="">
            <a:extLst xmlns:a="http://schemas.openxmlformats.org/drawingml/2006/main">
              <a:ext uri="{FF2B5EF4-FFF2-40B4-BE49-F238E27FC236}">
                <a16:creationId xmlns:a16="http://schemas.microsoft.com/office/drawing/2014/main" id="{7614EE16-ECBC-4579-BC01-F9F9682A96C2}"/>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X: forward</a:t>
            </a:r>
          </a:p>
          <a:p xmlns:a="http://schemas.openxmlformats.org/drawingml/2006/main">
            <a:pPr>
              <a:defRPr sz="1650" b="0">
                <a:solidFill>
                  <a:srgbClr val="0F172A"/>
                </a:solidFill>
              </a:defRPr>
            </a:pPr>
            <a:r>
              <a:rPr sz="1650" b="0">
                <a:solidFill>
                  <a:srgbClr val="0F172A"/>
                </a:solidFill>
              </a:rPr>
              <a:t>Y: right</a:t>
            </a:r>
          </a:p>
          <a:p xmlns:a="http://schemas.openxmlformats.org/drawingml/2006/main">
            <a:pPr>
              <a:defRPr sz="1650" b="0">
                <a:solidFill>
                  <a:srgbClr val="0F172A"/>
                </a:solidFill>
              </a:defRPr>
            </a:pPr>
            <a:r>
              <a:rPr sz="1650" b="0">
                <a:solidFill>
                  <a:srgbClr val="0F172A"/>
                </a:solidFill>
              </a:rPr>
              <a:t>Z: down</a:t>
            </a:r>
          </a:p>
          <a:p xmlns:a="http://schemas.openxmlformats.org/drawingml/2006/main">
            <a:r>
              <a:t/>
            </a:r>
          </a:p>
          <a:p xmlns:a="http://schemas.openxmlformats.org/drawingml/2006/main">
            <a:pPr>
              <a:defRPr sz="1650" b="0">
                <a:solidFill>
                  <a:srgbClr val="0F172A"/>
                </a:solidFill>
              </a:defRPr>
            </a:pPr>
            <a:r>
              <a:rPr sz="1650" b="0">
                <a:solidFill>
                  <a:srgbClr val="0F172A"/>
                </a:solidFill>
              </a:rPr>
              <a:t>Motor factors follow this frame.</a:t>
            </a:r>
          </a:p>
        </p:txBody>
      </p:sp>
      <p:sp>
        <p:nvSpPr>
          <p:cNvPr id="6" name="">
            <a:extLst xmlns:a="http://schemas.openxmlformats.org/drawingml/2006/main">
              <a:ext uri="{FF2B5EF4-FFF2-40B4-BE49-F238E27FC236}">
                <a16:creationId xmlns:a16="http://schemas.microsoft.com/office/drawing/2014/main" id="{E9644E43-B726-4C67-B270-45443F65CCF7}"/>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X: forward</a:t>
            </a:r>
          </a:p>
          <a:p xmlns:a="http://schemas.openxmlformats.org/drawingml/2006/main">
            <a:pPr>
              <a:defRPr sz="1650" b="0">
                <a:solidFill>
                  <a:srgbClr val="0F172A"/>
                </a:solidFill>
              </a:defRPr>
            </a:pPr>
            <a:r>
              <a:rPr sz="1650" b="0">
                <a:solidFill>
                  <a:srgbClr val="0F172A"/>
                </a:solidFill>
              </a:rPr>
              <a:t>Y: left</a:t>
            </a:r>
          </a:p>
          <a:p xmlns:a="http://schemas.openxmlformats.org/drawingml/2006/main">
            <a:pPr>
              <a:defRPr sz="1650" b="0">
                <a:solidFill>
                  <a:srgbClr val="0F172A"/>
                </a:solidFill>
              </a:defRPr>
            </a:pPr>
            <a:r>
              <a:rPr sz="1650" b="0">
                <a:solidFill>
                  <a:srgbClr val="0F172A"/>
                </a:solidFill>
              </a:rPr>
              <a:t>Z: up</a:t>
            </a:r>
          </a:p>
          <a:p xmlns:a="http://schemas.openxmlformats.org/drawingml/2006/main">
            <a:r>
              <a:t/>
            </a:r>
          </a:p>
          <a:p xmlns:a="http://schemas.openxmlformats.org/drawingml/2006/main">
            <a:pPr>
              <a:defRPr sz="1650" b="0">
                <a:solidFill>
                  <a:srgbClr val="0F172A"/>
                </a:solidFill>
              </a:defRPr>
            </a:pPr>
            <a:r>
              <a:rPr sz="1650" b="0">
                <a:solidFill>
                  <a:srgbClr val="0F172A"/>
                </a:solidFill>
              </a:rPr>
              <a:t>The generator flips Y and Z for positions and orients the thruster joint.</a:t>
            </a:r>
          </a:p>
        </p:txBody>
      </p:sp>
    </p:spTree>
    <p:extLst>
      <p:ext uri="{BB962C8B-B14F-4D97-AF65-F5344CB8AC3E}">
        <p14:creationId xmlns:p14="http://schemas.microsoft.com/office/powerpoint/2010/main" val="1985967565"/>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CF3FBB-853E-4B2F-B8FD-8494192D4D87}"/>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generate.py: four kinds of output</a:t>
            </a:r>
          </a:p>
        </p:txBody>
      </p:sp>
      <p:sp>
        <p:nvSpPr>
          <p:cNvPr id="2" name="">
            <a:extLst xmlns:a="http://schemas.openxmlformats.org/drawingml/2006/main">
              <a:ext uri="{FF2B5EF4-FFF2-40B4-BE49-F238E27FC236}">
                <a16:creationId xmlns:a16="http://schemas.microsoft.com/office/drawing/2014/main" id="{9F4709DD-69E7-454C-862A-F427561B0242}"/>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5 OF 9</a:t>
            </a:r>
          </a:p>
        </p:txBody>
      </p:sp>
      <p:sp>
        <p:nvSpPr>
          <p:cNvPr id="3" name="">
            <a:extLst xmlns:a="http://schemas.openxmlformats.org/drawingml/2006/main">
              <a:ext uri="{FF2B5EF4-FFF2-40B4-BE49-F238E27FC236}">
                <a16:creationId xmlns:a16="http://schemas.microsoft.com/office/drawing/2014/main" id="{1355105D-FD96-49B0-B10C-233AF8BB006F}"/>
              </a:ext>
            </a:extLst>
          </p:cNvPr>
          <p:cNvSpPr>
            <a:spLocks xmlns:a="http://schemas.openxmlformats.org/drawingml/2006/main" noGrp="1"/>
          </p:cNvSpPr>
          <p:nvPr/>
        </p:nvSpPr>
        <p:spPr>
          <a:xfrm xmlns:a="http://schemas.openxmlformats.org/drawingml/2006/main">
            <a:off x="762000" y="1666875"/>
            <a:ext cx="105727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0F172A"/>
                </a:solidFill>
              </a:defRPr>
            </a:defPPr>
            <a:lvl1pPr>
              <a:defRPr sz="1875" b="0">
                <a:solidFill>
                  <a:srgbClr val="0F172A"/>
                </a:solidFill>
              </a:defRPr>
            </a:lvl1pPr>
            <a:lvl2pPr>
              <a:defRPr sz="1875" b="0">
                <a:solidFill>
                  <a:srgbClr val="0F172A"/>
                </a:solidFill>
              </a:defRPr>
            </a:lvl2pPr>
            <a:lvl3pPr>
              <a:defRPr sz="1875" b="0">
                <a:solidFill>
                  <a:srgbClr val="0F172A"/>
                </a:solidFill>
              </a:defRPr>
            </a:lvl3pPr>
            <a:lvl4pPr>
              <a:defRPr sz="1875" b="0">
                <a:solidFill>
                  <a:srgbClr val="0F172A"/>
                </a:solidFill>
              </a:defRPr>
            </a:lvl4pPr>
            <a:lvl5pPr>
              <a:defRPr sz="1875" b="0">
                <a:solidFill>
                  <a:srgbClr val="0F172A"/>
                </a:solidFill>
              </a:defRPr>
            </a:lvl5pPr>
            <a:lvl6pPr>
              <a:defRPr sz="1875" b="0">
                <a:solidFill>
                  <a:srgbClr val="0F172A"/>
                </a:solidFill>
              </a:defRPr>
            </a:lvl6pPr>
            <a:lvl7pPr>
              <a:defRPr sz="1875" b="0">
                <a:solidFill>
                  <a:srgbClr val="0F172A"/>
                </a:solidFill>
              </a:defRPr>
            </a:lvl7pPr>
            <a:lvl8pPr>
              <a:defRPr sz="1875" b="0">
                <a:solidFill>
                  <a:srgbClr val="0F172A"/>
                </a:solidFill>
              </a:defRPr>
            </a:lvl8pPr>
            <a:lvl9pPr>
              <a:defRPr sz="1875" b="0">
                <a:solidFill>
                  <a:srgbClr val="0F172A"/>
                </a:solidFill>
              </a:defRPr>
            </a:lvl9pPr>
          </a:lstStyle>
          <a:p xmlns:a="http://schemas.openxmlformats.org/drawingml/2006/main">
            <a:pPr>
              <a:defRPr sz="1875" b="0">
                <a:solidFill>
                  <a:srgbClr val="0F172A"/>
                </a:solidFill>
              </a:defRPr>
            </a:pPr>
            <a:r>
              <a:rPr sz="1875" b="0">
                <a:solidFill>
                  <a:srgbClr val="0F172A"/>
                </a:solidFill>
              </a:rPr>
              <a:t>model.sdf        Body, thrusters, IMU, connector</a:t>
            </a:r>
          </a:p>
          <a:p xmlns:a="http://schemas.openxmlformats.org/drawingml/2006/main">
            <a:r>
              <a:t/>
            </a:r>
          </a:p>
          <a:p xmlns:a="http://schemas.openxmlformats.org/drawingml/2006/main">
            <a:pPr>
              <a:defRPr sz="1875" b="0">
                <a:solidFill>
                  <a:srgbClr val="0F172A"/>
                </a:solidFill>
              </a:defRPr>
            </a:pPr>
            <a:r>
              <a:rPr sz="1875" b="0">
                <a:solidFill>
                  <a:srgbClr val="0F172A"/>
                </a:solidFill>
              </a:rPr>
              <a:t>model.config     Gazebo model metadata</a:t>
            </a:r>
          </a:p>
          <a:p xmlns:a="http://schemas.openxmlformats.org/drawingml/2006/main">
            <a:r>
              <a:t/>
            </a:r>
          </a:p>
          <a:p xmlns:a="http://schemas.openxmlformats.org/drawingml/2006/main">
            <a:pPr>
              <a:defRPr sz="1875" b="0">
                <a:solidFill>
                  <a:srgbClr val="0F172A"/>
                </a:solidFill>
              </a:defRPr>
            </a:pPr>
            <a:r>
              <a:rPr sz="1875" b="0">
                <a:solidFill>
                  <a:srgbClr val="0F172A"/>
                </a:solidFill>
              </a:rPr>
              <a:t>world.sdf        Physics, buoyancy, starting pose</a:t>
            </a:r>
          </a:p>
          <a:p xmlns:a="http://schemas.openxmlformats.org/drawingml/2006/main">
            <a:r>
              <a:t/>
            </a:r>
          </a:p>
          <a:p xmlns:a="http://schemas.openxmlformats.org/drawingml/2006/main">
            <a:pPr>
              <a:defRPr sz="1875" b="0">
                <a:solidFill>
                  <a:srgbClr val="0F172A"/>
                </a:solidFill>
              </a:defRPr>
            </a:pPr>
            <a:r>
              <a:rPr sz="1875" b="0">
                <a:solidFill>
                  <a:srgbClr val="0F172A"/>
                </a:solidFill>
              </a:rPr>
              <a:t>frame.parm       ArduSub FRAME_CONFIG value</a:t>
            </a:r>
          </a:p>
        </p:txBody>
      </p:sp>
      <p:sp>
        <p:nvSpPr>
          <p:cNvPr id="4" name="">
            <a:extLst xmlns:a="http://schemas.openxmlformats.org/drawingml/2006/main">
              <a:ext uri="{FF2B5EF4-FFF2-40B4-BE49-F238E27FC236}">
                <a16:creationId xmlns:a16="http://schemas.microsoft.com/office/drawing/2014/main" id="{54DDCC2C-D6D1-4359-927B-3245EBDA5455}"/>
              </a:ext>
            </a:extLst>
          </p:cNvPr>
          <p:cNvSpPr>
            <a:spLocks xmlns:a="http://schemas.openxmlformats.org/drawingml/2006/main" noGrp="1"/>
          </p:cNvSpPr>
          <p:nvPr/>
        </p:nvSpPr>
        <p:spPr>
          <a:xfrm xmlns:a="http://schemas.openxmlformats.org/drawingml/2006/main">
            <a:off x="762000" y="5648325"/>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F766E"/>
                </a:solidFill>
              </a:defRPr>
            </a:defPPr>
            <a:lvl1pPr>
              <a:defRPr sz="1725" b="1">
                <a:solidFill>
                  <a:srgbClr val="0F766E"/>
                </a:solidFill>
              </a:defRPr>
            </a:lvl1pPr>
            <a:lvl2pPr>
              <a:defRPr sz="1725" b="1">
                <a:solidFill>
                  <a:srgbClr val="0F766E"/>
                </a:solidFill>
              </a:defRPr>
            </a:lvl2pPr>
            <a:lvl3pPr>
              <a:defRPr sz="1725" b="1">
                <a:solidFill>
                  <a:srgbClr val="0F766E"/>
                </a:solidFill>
              </a:defRPr>
            </a:lvl3pPr>
            <a:lvl4pPr>
              <a:defRPr sz="1725" b="1">
                <a:solidFill>
                  <a:srgbClr val="0F766E"/>
                </a:solidFill>
              </a:defRPr>
            </a:lvl4pPr>
            <a:lvl5pPr>
              <a:defRPr sz="1725" b="1">
                <a:solidFill>
                  <a:srgbClr val="0F766E"/>
                </a:solidFill>
              </a:defRPr>
            </a:lvl5pPr>
            <a:lvl6pPr>
              <a:defRPr sz="1725" b="1">
                <a:solidFill>
                  <a:srgbClr val="0F766E"/>
                </a:solidFill>
              </a:defRPr>
            </a:lvl6pPr>
            <a:lvl7pPr>
              <a:defRPr sz="1725" b="1">
                <a:solidFill>
                  <a:srgbClr val="0F766E"/>
                </a:solidFill>
              </a:defRPr>
            </a:lvl7pPr>
            <a:lvl8pPr>
              <a:defRPr sz="1725" b="1">
                <a:solidFill>
                  <a:srgbClr val="0F766E"/>
                </a:solidFill>
              </a:defRPr>
            </a:lvl8pPr>
            <a:lvl9pPr>
              <a:defRPr sz="1725" b="1">
                <a:solidFill>
                  <a:srgbClr val="0F766E"/>
                </a:solidFill>
              </a:defRPr>
            </a:lvl9pPr>
          </a:lstStyle>
          <a:p xmlns:a="http://schemas.openxmlformats.org/drawingml/2006/main">
            <a:pPr>
              <a:defRPr sz="1725" b="1">
                <a:solidFill>
                  <a:srgbClr val="0F766E"/>
                </a:solidFill>
              </a:defRPr>
            </a:pPr>
            <a:r>
              <a:rPr sz="1725" b="1">
                <a:solidFill>
                  <a:srgbClr val="0F766E"/>
                </a:solidFill>
              </a:rPr>
              <a:t>Connector channel 0 publishes to motor_1</a:t>
            </a:r>
          </a:p>
        </p:txBody>
      </p:sp>
    </p:spTree>
    <p:extLst>
      <p:ext uri="{BB962C8B-B14F-4D97-AF65-F5344CB8AC3E}">
        <p14:creationId xmlns:p14="http://schemas.microsoft.com/office/powerpoint/2010/main" val="414880360"/>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8271FF-9383-4479-853F-01F61EB49F15}"/>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generate.py: assumptions to record</a:t>
            </a:r>
          </a:p>
        </p:txBody>
      </p:sp>
      <p:sp>
        <p:nvSpPr>
          <p:cNvPr id="2" name="">
            <a:extLst xmlns:a="http://schemas.openxmlformats.org/drawingml/2006/main">
              <a:ext uri="{FF2B5EF4-FFF2-40B4-BE49-F238E27FC236}">
                <a16:creationId xmlns:a16="http://schemas.microsoft.com/office/drawing/2014/main" id="{AF6AB017-93B7-4032-A3CB-5C93AFD41E5E}"/>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5 OF 9</a:t>
            </a:r>
          </a:p>
        </p:txBody>
      </p:sp>
      <p:sp>
        <p:nvSpPr>
          <p:cNvPr id="3" name="">
            <a:extLst xmlns:a="http://schemas.openxmlformats.org/drawingml/2006/main">
              <a:ext uri="{FF2B5EF4-FFF2-40B4-BE49-F238E27FC236}">
                <a16:creationId xmlns:a16="http://schemas.microsoft.com/office/drawing/2014/main" id="{C55F68D2-3554-4E98-936C-2D9C37B25D87}"/>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Numerical assumptions</a:t>
            </a:r>
          </a:p>
        </p:txBody>
      </p:sp>
      <p:sp>
        <p:nvSpPr>
          <p:cNvPr id="4" name="">
            <a:extLst xmlns:a="http://schemas.openxmlformats.org/drawingml/2006/main">
              <a:ext uri="{FF2B5EF4-FFF2-40B4-BE49-F238E27FC236}">
                <a16:creationId xmlns:a16="http://schemas.microsoft.com/office/drawing/2014/main" id="{04A56AFF-E7C7-46B9-8819-93F70097B79F}"/>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Portability assumptions</a:t>
            </a:r>
          </a:p>
        </p:txBody>
      </p:sp>
      <p:sp>
        <p:nvSpPr>
          <p:cNvPr id="5" name="">
            <a:extLst xmlns:a="http://schemas.openxmlformats.org/drawingml/2006/main">
              <a:ext uri="{FF2B5EF4-FFF2-40B4-BE49-F238E27FC236}">
                <a16:creationId xmlns:a16="http://schemas.microsoft.com/office/drawing/2014/main" id="{22A957ED-E1F7-46AE-819B-6E47B593B7BF}"/>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12 kg nominal mass</a:t>
            </a:r>
          </a:p>
          <a:p xmlns:a="http://schemas.openxmlformats.org/drawingml/2006/main">
            <a:pPr>
              <a:defRPr sz="1650" b="0">
                <a:solidFill>
                  <a:srgbClr val="0F172A"/>
                </a:solidFill>
              </a:defRPr>
            </a:pPr>
            <a:r>
              <a:rPr sz="1650" b="0">
                <a:solidFill>
                  <a:srgbClr val="0F172A"/>
                </a:solidFill>
              </a:rPr>
              <a:t>0.012 m³ displacement</a:t>
            </a:r>
          </a:p>
          <a:p xmlns:a="http://schemas.openxmlformats.org/drawingml/2006/main">
            <a:pPr>
              <a:defRPr sz="1650" b="0">
                <a:solidFill>
                  <a:srgbClr val="0F172A"/>
                </a:solidFill>
              </a:defRPr>
            </a:pPr>
            <a:r>
              <a:rPr sz="1650" b="0">
                <a:solidFill>
                  <a:srgbClr val="0F172A"/>
                </a:solidFill>
              </a:rPr>
              <a:t>Shared placeholder drag</a:t>
            </a:r>
          </a:p>
          <a:p xmlns:a="http://schemas.openxmlformats.org/drawingml/2006/main">
            <a:pPr>
              <a:defRPr sz="1650" b="0">
                <a:solidFill>
                  <a:srgbClr val="0F172A"/>
                </a:solidFill>
              </a:defRPr>
            </a:pPr>
            <a:r>
              <a:rPr sz="1650" b="0">
                <a:solidFill>
                  <a:srgbClr val="0F172A"/>
                </a:solidFill>
              </a:rPr>
              <a:t>Schematic thruster positions</a:t>
            </a:r>
          </a:p>
        </p:txBody>
      </p:sp>
      <p:sp>
        <p:nvSpPr>
          <p:cNvPr id="6" name="">
            <a:extLst xmlns:a="http://schemas.openxmlformats.org/drawingml/2006/main">
              <a:ext uri="{FF2B5EF4-FFF2-40B4-BE49-F238E27FC236}">
                <a16:creationId xmlns:a16="http://schemas.microsoft.com/office/drawing/2014/main" id="{CAD590AA-ABBD-4B01-AD87-6AFA13CB488F}"/>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macOS .dylib plugins</a:t>
            </a:r>
          </a:p>
          <a:p xmlns:a="http://schemas.openxmlformats.org/drawingml/2006/main">
            <a:pPr>
              <a:defRPr sz="1650" b="0">
                <a:solidFill>
                  <a:srgbClr val="0F172A"/>
                </a:solidFill>
              </a:defRPr>
            </a:pPr>
            <a:r>
              <a:rPr sz="1650" b="0">
                <a:solidFill>
                  <a:srgbClr val="0F172A"/>
                </a:solidFill>
              </a:rPr>
              <a:t>Absolute connector-library path</a:t>
            </a:r>
          </a:p>
          <a:p xmlns:a="http://schemas.openxmlformats.org/drawingml/2006/main">
            <a:pPr>
              <a:defRPr sz="1650" b="0">
                <a:solidFill>
                  <a:srgbClr val="0F172A"/>
                </a:solidFill>
              </a:defRPr>
            </a:pPr>
            <a:r>
              <a:rPr sz="1650" b="0">
                <a:solidFill>
                  <a:srgbClr val="0F172A"/>
                </a:solidFill>
              </a:rPr>
              <a:t>Generated worlds stay local</a:t>
            </a:r>
          </a:p>
          <a:p xmlns:a="http://schemas.openxmlformats.org/drawingml/2006/main">
            <a:pPr>
              <a:defRPr sz="1650" b="0">
                <a:solidFill>
                  <a:srgbClr val="0F172A"/>
                </a:solidFill>
              </a:defRPr>
            </a:pPr>
            <a:r>
              <a:rPr sz="1650" b="0">
                <a:solidFill>
                  <a:srgbClr val="0F172A"/>
                </a:solidFill>
              </a:rPr>
              <a:t>Rebuild after moving dependencies</a:t>
            </a:r>
          </a:p>
        </p:txBody>
      </p:sp>
    </p:spTree>
    <p:extLst>
      <p:ext uri="{BB962C8B-B14F-4D97-AF65-F5344CB8AC3E}">
        <p14:creationId xmlns:p14="http://schemas.microsoft.com/office/powerpoint/2010/main" val="930262194"/>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1D6AA7-526B-4D7C-AF84-CF8FDD9AFA4B}"/>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verify.py: compare against ArduSub</a:t>
            </a:r>
          </a:p>
        </p:txBody>
      </p:sp>
      <p:sp>
        <p:nvSpPr>
          <p:cNvPr id="2" name="">
            <a:extLst xmlns:a="http://schemas.openxmlformats.org/drawingml/2006/main">
              <a:ext uri="{FF2B5EF4-FFF2-40B4-BE49-F238E27FC236}">
                <a16:creationId xmlns:a16="http://schemas.microsoft.com/office/drawing/2014/main" id="{C3945E34-EF8E-4C85-B83A-20624ECCA6D6}"/>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6 OF 9</a:t>
            </a:r>
          </a:p>
        </p:txBody>
      </p:sp>
      <p:sp>
        <p:nvSpPr>
          <p:cNvPr id="3" name="">
            <a:extLst xmlns:a="http://schemas.openxmlformats.org/drawingml/2006/main">
              <a:ext uri="{FF2B5EF4-FFF2-40B4-BE49-F238E27FC236}">
                <a16:creationId xmlns:a16="http://schemas.microsoft.com/office/drawing/2014/main" id="{79A0694A-95EC-4311-BA55-D0F70A5A68B0}"/>
              </a:ext>
            </a:extLst>
          </p:cNvPr>
          <p:cNvSpPr>
            <a:spLocks xmlns:a="http://schemas.openxmlformats.org/drawingml/2006/main" noGrp="1"/>
          </p:cNvSpPr>
          <p:nvPr/>
        </p:nvSpPr>
        <p:spPr>
          <a:xfrm xmlns:a="http://schemas.openxmlformats.org/drawingml/2006/main">
            <a:off x="742950" y="1676400"/>
            <a:ext cx="1028700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0F172A"/>
                </a:solidFill>
              </a:defRPr>
            </a:defPPr>
            <a:lvl1pPr>
              <a:defRPr sz="1800" b="0">
                <a:solidFill>
                  <a:srgbClr val="0F172A"/>
                </a:solidFill>
              </a:defRPr>
            </a:lvl1pPr>
            <a:lvl2pPr>
              <a:defRPr sz="1800" b="0">
                <a:solidFill>
                  <a:srgbClr val="0F172A"/>
                </a:solidFill>
              </a:defRPr>
            </a:lvl2pPr>
            <a:lvl3pPr>
              <a:defRPr sz="1800" b="0">
                <a:solidFill>
                  <a:srgbClr val="0F172A"/>
                </a:solidFill>
              </a:defRPr>
            </a:lvl3pPr>
            <a:lvl4pPr>
              <a:defRPr sz="1800" b="0">
                <a:solidFill>
                  <a:srgbClr val="0F172A"/>
                </a:solidFill>
              </a:defRPr>
            </a:lvl4pPr>
            <a:lvl5pPr>
              <a:defRPr sz="1800" b="0">
                <a:solidFill>
                  <a:srgbClr val="0F172A"/>
                </a:solidFill>
              </a:defRPr>
            </a:lvl5pPr>
            <a:lvl6pPr>
              <a:defRPr sz="1800" b="0">
                <a:solidFill>
                  <a:srgbClr val="0F172A"/>
                </a:solidFill>
              </a:defRPr>
            </a:lvl6pPr>
            <a:lvl7pPr>
              <a:defRPr sz="1800" b="0">
                <a:solidFill>
                  <a:srgbClr val="0F172A"/>
                </a:solidFill>
              </a:defRPr>
            </a:lvl7pPr>
            <a:lvl8pPr>
              <a:defRPr sz="1800" b="0">
                <a:solidFill>
                  <a:srgbClr val="0F172A"/>
                </a:solidFill>
              </a:defRPr>
            </a:lvl8pPr>
            <a:lvl9pPr>
              <a:defRPr sz="1800" b="0">
                <a:solidFill>
                  <a:srgbClr val="0F172A"/>
                </a:solidFill>
              </a:defRPr>
            </a:lvl9pPr>
          </a:lstStyle>
          <a:p xmlns:a="http://schemas.openxmlformats.org/drawingml/2006/main">
            <a:pPr>
              <a:defRPr sz="1800" b="0">
                <a:solidFill>
                  <a:srgbClr val="0F172A"/>
                </a:solidFill>
              </a:defRPr>
            </a:pPr>
            <a:r>
              <a:rPr sz="1800" b="0">
                <a:solidFill>
                  <a:srgbClr val="0F172A"/>
                </a:solidFill>
              </a:rPr>
              <a:t>Question: Do the generator’s motor factors match this ArduSub checkout?</a:t>
            </a:r>
          </a:p>
          <a:p xmlns:a="http://schemas.openxmlformats.org/drawingml/2006/main">
            <a:r>
              <a:t/>
            </a:r>
          </a:p>
          <a:p xmlns:a="http://schemas.openxmlformats.org/drawingml/2006/main">
            <a:pPr>
              <a:defRPr sz="1800" b="0">
                <a:solidFill>
                  <a:srgbClr val="0F172A"/>
                </a:solidFill>
              </a:defRPr>
            </a:pPr>
            <a:r>
              <a:rPr sz="1800" b="0">
                <a:solidFill>
                  <a:srgbClr val="0F172A"/>
                </a:solidFill>
              </a:rPr>
              <a:t>The verifier reads AP_Motors6DOF.cpp, extracts each motor row, and compares it with generate.FRAMES.</a:t>
            </a:r>
          </a:p>
          <a:p xmlns:a="http://schemas.openxmlformats.org/drawingml/2006/main">
            <a:r>
              <a:t/>
            </a:r>
          </a:p>
          <a:p xmlns:a="http://schemas.openxmlformats.org/drawingml/2006/main">
            <a:pPr>
              <a:defRPr sz="1800" b="0">
                <a:solidFill>
                  <a:srgbClr val="0F172A"/>
                </a:solidFill>
              </a:defRPr>
            </a:pPr>
            <a:r>
              <a:rPr sz="1800" b="0">
                <a:solidFill>
                  <a:srgbClr val="0F172A"/>
                </a:solidFill>
              </a:rPr>
              <a:t>A mismatch stops preparation before anyone records a trial.</a:t>
            </a:r>
          </a:p>
        </p:txBody>
      </p:sp>
    </p:spTree>
    <p:extLst>
      <p:ext uri="{BB962C8B-B14F-4D97-AF65-F5344CB8AC3E}">
        <p14:creationId xmlns:p14="http://schemas.microsoft.com/office/powerpoint/2010/main" val="730533896"/>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2917A4-A9C3-45F5-9403-70AF31F8E5A7}"/>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verify.py: wiring and possible motions</a:t>
            </a:r>
          </a:p>
        </p:txBody>
      </p:sp>
      <p:sp>
        <p:nvSpPr>
          <p:cNvPr id="2" name="">
            <a:extLst xmlns:a="http://schemas.openxmlformats.org/drawingml/2006/main">
              <a:ext uri="{FF2B5EF4-FFF2-40B4-BE49-F238E27FC236}">
                <a16:creationId xmlns:a16="http://schemas.microsoft.com/office/drawing/2014/main" id="{AF508266-6D1B-4C06-BABF-B368D0C2109E}"/>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6 OF 9</a:t>
            </a:r>
          </a:p>
        </p:txBody>
      </p:sp>
      <p:sp>
        <p:nvSpPr>
          <p:cNvPr id="3" name="">
            <a:extLst xmlns:a="http://schemas.openxmlformats.org/drawingml/2006/main">
              <a:ext uri="{FF2B5EF4-FFF2-40B4-BE49-F238E27FC236}">
                <a16:creationId xmlns:a16="http://schemas.microsoft.com/office/drawing/2014/main" id="{29C0A9C1-91B6-4907-901B-ECBA2183D4DA}"/>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Checks it performs</a:t>
            </a:r>
          </a:p>
        </p:txBody>
      </p:sp>
      <p:sp>
        <p:nvSpPr>
          <p:cNvPr id="4" name="">
            <a:extLst xmlns:a="http://schemas.openxmlformats.org/drawingml/2006/main">
              <a:ext uri="{FF2B5EF4-FFF2-40B4-BE49-F238E27FC236}">
                <a16:creationId xmlns:a16="http://schemas.microsoft.com/office/drawing/2014/main" id="{1F6D8FCF-371E-4878-8139-CFE8AD536D41}"/>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What rank does not prove</a:t>
            </a:r>
          </a:p>
        </p:txBody>
      </p:sp>
      <p:sp>
        <p:nvSpPr>
          <p:cNvPr id="5" name="">
            <a:extLst xmlns:a="http://schemas.openxmlformats.org/drawingml/2006/main">
              <a:ext uri="{FF2B5EF4-FFF2-40B4-BE49-F238E27FC236}">
                <a16:creationId xmlns:a16="http://schemas.microsoft.com/office/drawing/2014/main" id="{D507AF8F-244A-4121-91B1-174CACA4F469}"/>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Motor count and channel order</a:t>
            </a:r>
          </a:p>
          <a:p xmlns:a="http://schemas.openxmlformats.org/drawingml/2006/main">
            <a:pPr>
              <a:defRPr sz="1650" b="0">
                <a:solidFill>
                  <a:srgbClr val="0F172A"/>
                </a:solidFill>
              </a:defRPr>
            </a:pPr>
            <a:r>
              <a:rPr sz="1650" b="0">
                <a:solidFill>
                  <a:srgbClr val="0F172A"/>
                </a:solidFill>
              </a:rPr>
              <a:t>Gazebo topic names</a:t>
            </a:r>
          </a:p>
          <a:p xmlns:a="http://schemas.openxmlformats.org/drawingml/2006/main">
            <a:pPr>
              <a:defRPr sz="1650" b="0">
                <a:solidFill>
                  <a:srgbClr val="0F172A"/>
                </a:solidFill>
              </a:defRPr>
            </a:pPr>
            <a:r>
              <a:rPr sz="1650" b="0">
                <a:solidFill>
                  <a:srgbClr val="0F172A"/>
                </a:solidFill>
              </a:rPr>
              <a:t>Thruster axes and positions</a:t>
            </a:r>
          </a:p>
          <a:p xmlns:a="http://schemas.openxmlformats.org/drawingml/2006/main">
            <a:pPr>
              <a:defRPr sz="1650" b="0">
                <a:solidFill>
                  <a:srgbClr val="0F172A"/>
                </a:solidFill>
              </a:defRPr>
            </a:pPr>
            <a:r>
              <a:rPr sz="1650" b="0">
                <a:solidFill>
                  <a:srgbClr val="0F172A"/>
                </a:solidFill>
              </a:rPr>
              <a:t>Idealized force direction</a:t>
            </a:r>
          </a:p>
          <a:p xmlns:a="http://schemas.openxmlformats.org/drawingml/2006/main">
            <a:pPr>
              <a:defRPr sz="1650" b="0">
                <a:solidFill>
                  <a:srgbClr val="0F172A"/>
                </a:solidFill>
              </a:defRPr>
            </a:pPr>
            <a:r>
              <a:rPr sz="1650" b="0">
                <a:solidFill>
                  <a:srgbClr val="0F172A"/>
                </a:solidFill>
              </a:rPr>
              <a:t>Allocation matrix rank</a:t>
            </a:r>
          </a:p>
        </p:txBody>
      </p:sp>
      <p:sp>
        <p:nvSpPr>
          <p:cNvPr id="6" name="">
            <a:extLst xmlns:a="http://schemas.openxmlformats.org/drawingml/2006/main">
              <a:ext uri="{FF2B5EF4-FFF2-40B4-BE49-F238E27FC236}">
                <a16:creationId xmlns:a16="http://schemas.microsoft.com/office/drawing/2014/main" id="{F1699F82-B8CD-498F-B9C6-760AAA37A833}"/>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Handling performance</a:t>
            </a:r>
          </a:p>
          <a:p xmlns:a="http://schemas.openxmlformats.org/drawingml/2006/main">
            <a:pPr>
              <a:defRPr sz="1650" b="0">
                <a:solidFill>
                  <a:srgbClr val="0F172A"/>
                </a:solidFill>
              </a:defRPr>
            </a:pPr>
            <a:r>
              <a:rPr sz="1650" b="0">
                <a:solidFill>
                  <a:srgbClr val="0F172A"/>
                </a:solidFill>
              </a:rPr>
              <a:t>Controller stability</a:t>
            </a:r>
          </a:p>
          <a:p xmlns:a="http://schemas.openxmlformats.org/drawingml/2006/main">
            <a:pPr>
              <a:defRPr sz="1650" b="0">
                <a:solidFill>
                  <a:srgbClr val="0F172A"/>
                </a:solidFill>
              </a:defRPr>
            </a:pPr>
            <a:r>
              <a:rPr sz="1650" b="0">
                <a:solidFill>
                  <a:srgbClr val="0F172A"/>
                </a:solidFill>
              </a:rPr>
              <a:t>Real thruster output</a:t>
            </a:r>
          </a:p>
          <a:p xmlns:a="http://schemas.openxmlformats.org/drawingml/2006/main">
            <a:pPr>
              <a:defRPr sz="1650" b="0">
                <a:solidFill>
                  <a:srgbClr val="0F172A"/>
                </a:solidFill>
              </a:defRPr>
            </a:pPr>
            <a:r>
              <a:rPr sz="1650" b="0">
                <a:solidFill>
                  <a:srgbClr val="0F172A"/>
                </a:solidFill>
              </a:rPr>
              <a:t>Energy use</a:t>
            </a:r>
          </a:p>
          <a:p xmlns:a="http://schemas.openxmlformats.org/drawingml/2006/main">
            <a:pPr>
              <a:defRPr sz="1650" b="0">
                <a:solidFill>
                  <a:srgbClr val="0F172A"/>
                </a:solidFill>
              </a:defRPr>
            </a:pPr>
            <a:r>
              <a:rPr sz="1650" b="0">
                <a:solidFill>
                  <a:srgbClr val="0F172A"/>
                </a:solidFill>
              </a:rPr>
              <a:t>Fault tolerance</a:t>
            </a:r>
          </a:p>
        </p:txBody>
      </p:sp>
    </p:spTree>
    <p:extLst>
      <p:ext uri="{BB962C8B-B14F-4D97-AF65-F5344CB8AC3E}">
        <p14:creationId xmlns:p14="http://schemas.microsoft.com/office/powerpoint/2010/main" val="1694541555"/>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668846-57E0-4D0E-AE78-D1516E583036}"/>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run_gazebo_mac.sh: server or window</a:t>
            </a:r>
          </a:p>
        </p:txBody>
      </p:sp>
      <p:sp>
        <p:nvSpPr>
          <p:cNvPr id="2" name="">
            <a:extLst xmlns:a="http://schemas.openxmlformats.org/drawingml/2006/main">
              <a:ext uri="{FF2B5EF4-FFF2-40B4-BE49-F238E27FC236}">
                <a16:creationId xmlns:a16="http://schemas.microsoft.com/office/drawing/2014/main" id="{19CD3D99-7617-4073-B350-CA7FCA3EE887}"/>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7 OF 9</a:t>
            </a:r>
          </a:p>
        </p:txBody>
      </p:sp>
      <p:sp>
        <p:nvSpPr>
          <p:cNvPr id="3" name="">
            <a:extLst xmlns:a="http://schemas.openxmlformats.org/drawingml/2006/main">
              <a:ext uri="{FF2B5EF4-FFF2-40B4-BE49-F238E27FC236}">
                <a16:creationId xmlns:a16="http://schemas.microsoft.com/office/drawing/2014/main" id="{55BAF8BD-3437-4BBA-B6C3-2722E2C7FD90}"/>
              </a:ext>
            </a:extLst>
          </p:cNvPr>
          <p:cNvSpPr>
            <a:spLocks xmlns:a="http://schemas.openxmlformats.org/drawingml/2006/main" noGrp="1"/>
          </p:cNvSpPr>
          <p:nvPr/>
        </p:nvSpPr>
        <p:spPr>
          <a:xfrm xmlns:a="http://schemas.openxmlformats.org/drawingml/2006/main">
            <a:off x="752475" y="1809750"/>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0F172A"/>
                </a:solidFill>
              </a:defRPr>
            </a:defPPr>
            <a:lvl1pPr>
              <a:defRPr sz="1875" b="0">
                <a:solidFill>
                  <a:srgbClr val="0F172A"/>
                </a:solidFill>
              </a:defRPr>
            </a:lvl1pPr>
            <a:lvl2pPr>
              <a:defRPr sz="1875" b="0">
                <a:solidFill>
                  <a:srgbClr val="0F172A"/>
                </a:solidFill>
              </a:defRPr>
            </a:lvl2pPr>
            <a:lvl3pPr>
              <a:defRPr sz="1875" b="0">
                <a:solidFill>
                  <a:srgbClr val="0F172A"/>
                </a:solidFill>
              </a:defRPr>
            </a:lvl3pPr>
            <a:lvl4pPr>
              <a:defRPr sz="1875" b="0">
                <a:solidFill>
                  <a:srgbClr val="0F172A"/>
                </a:solidFill>
              </a:defRPr>
            </a:lvl4pPr>
            <a:lvl5pPr>
              <a:defRPr sz="1875" b="0">
                <a:solidFill>
                  <a:srgbClr val="0F172A"/>
                </a:solidFill>
              </a:defRPr>
            </a:lvl5pPr>
            <a:lvl6pPr>
              <a:defRPr sz="1875" b="0">
                <a:solidFill>
                  <a:srgbClr val="0F172A"/>
                </a:solidFill>
              </a:defRPr>
            </a:lvl6pPr>
            <a:lvl7pPr>
              <a:defRPr sz="1875" b="0">
                <a:solidFill>
                  <a:srgbClr val="0F172A"/>
                </a:solidFill>
              </a:defRPr>
            </a:lvl7pPr>
            <a:lvl8pPr>
              <a:defRPr sz="1875" b="0">
                <a:solidFill>
                  <a:srgbClr val="0F172A"/>
                </a:solidFill>
              </a:defRPr>
            </a:lvl8pPr>
            <a:lvl9pPr>
              <a:defRPr sz="1875" b="0">
                <a:solidFill>
                  <a:srgbClr val="0F172A"/>
                </a:solidFill>
              </a:defRPr>
            </a:lvl9pPr>
          </a:lstStyle>
          <a:p xmlns:a="http://schemas.openxmlformats.org/drawingml/2006/main">
            <a:pPr>
              <a:defRPr sz="1875" b="0">
                <a:solidFill>
                  <a:srgbClr val="0F172A"/>
                </a:solidFill>
              </a:defRPr>
            </a:pPr>
            <a:r>
              <a:rPr sz="1875" b="0">
                <a:solidFill>
                  <a:srgbClr val="0F172A"/>
                </a:solidFill>
              </a:rPr>
              <a:t>bash run_gazebo_mac.sh bluerov2 server</a:t>
            </a:r>
          </a:p>
          <a:p xmlns:a="http://schemas.openxmlformats.org/drawingml/2006/main">
            <a:r>
              <a:t/>
            </a:r>
          </a:p>
          <a:p xmlns:a="http://schemas.openxmlformats.org/drawingml/2006/main">
            <a:pPr>
              <a:defRPr sz="1875" b="0">
                <a:solidFill>
                  <a:srgbClr val="0F172A"/>
                </a:solidFill>
              </a:defRPr>
            </a:pPr>
            <a:r>
              <a:rPr sz="1875" b="0">
                <a:solidFill>
                  <a:srgbClr val="0F172A"/>
                </a:solidFill>
              </a:rPr>
              <a:t>bash run_gazebo_mac.sh bluerov2 gui</a:t>
            </a:r>
          </a:p>
        </p:txBody>
      </p:sp>
      <p:sp>
        <p:nvSpPr>
          <p:cNvPr id="4" name="">
            <a:extLst xmlns:a="http://schemas.openxmlformats.org/drawingml/2006/main">
              <a:ext uri="{FF2B5EF4-FFF2-40B4-BE49-F238E27FC236}">
                <a16:creationId xmlns:a16="http://schemas.microsoft.com/office/drawing/2014/main" id="{2FEF4962-6311-464B-B023-F5D8F0DC7B81}"/>
              </a:ext>
            </a:extLst>
          </p:cNvPr>
          <p:cNvSpPr>
            <a:spLocks xmlns:a="http://schemas.openxmlformats.org/drawingml/2006/main" noGrp="1"/>
          </p:cNvSpPr>
          <p:nvPr/>
        </p:nvSpPr>
        <p:spPr>
          <a:xfrm xmlns:a="http://schemas.openxmlformats.org/drawingml/2006/main">
            <a:off x="771525" y="4267200"/>
            <a:ext cx="10191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0F172A"/>
                </a:solidFill>
              </a:defRPr>
            </a:defPPr>
            <a:lvl1pPr>
              <a:defRPr sz="1800" b="0">
                <a:solidFill>
                  <a:srgbClr val="0F172A"/>
                </a:solidFill>
              </a:defRPr>
            </a:lvl1pPr>
            <a:lvl2pPr>
              <a:defRPr sz="1800" b="0">
                <a:solidFill>
                  <a:srgbClr val="0F172A"/>
                </a:solidFill>
              </a:defRPr>
            </a:lvl2pPr>
            <a:lvl3pPr>
              <a:defRPr sz="1800" b="0">
                <a:solidFill>
                  <a:srgbClr val="0F172A"/>
                </a:solidFill>
              </a:defRPr>
            </a:lvl3pPr>
            <a:lvl4pPr>
              <a:defRPr sz="1800" b="0">
                <a:solidFill>
                  <a:srgbClr val="0F172A"/>
                </a:solidFill>
              </a:defRPr>
            </a:lvl4pPr>
            <a:lvl5pPr>
              <a:defRPr sz="1800" b="0">
                <a:solidFill>
                  <a:srgbClr val="0F172A"/>
                </a:solidFill>
              </a:defRPr>
            </a:lvl5pPr>
            <a:lvl6pPr>
              <a:defRPr sz="1800" b="0">
                <a:solidFill>
                  <a:srgbClr val="0F172A"/>
                </a:solidFill>
              </a:defRPr>
            </a:lvl6pPr>
            <a:lvl7pPr>
              <a:defRPr sz="1800" b="0">
                <a:solidFill>
                  <a:srgbClr val="0F172A"/>
                </a:solidFill>
              </a:defRPr>
            </a:lvl7pPr>
            <a:lvl8pPr>
              <a:defRPr sz="1800" b="0">
                <a:solidFill>
                  <a:srgbClr val="0F172A"/>
                </a:solidFill>
              </a:defRPr>
            </a:lvl8pPr>
            <a:lvl9pPr>
              <a:defRPr sz="1800" b="0">
                <a:solidFill>
                  <a:srgbClr val="0F172A"/>
                </a:solidFill>
              </a:defRPr>
            </a:lvl9pPr>
          </a:lstStyle>
          <a:p xmlns:a="http://schemas.openxmlformats.org/drawingml/2006/main">
            <a:pPr>
              <a:defRPr sz="1800" b="0">
                <a:solidFill>
                  <a:srgbClr val="0F172A"/>
                </a:solidFill>
              </a:defRPr>
            </a:pPr>
            <a:r>
              <a:rPr sz="1800" b="0">
                <a:solidFill>
                  <a:srgbClr val="0F172A"/>
                </a:solidFill>
              </a:rPr>
              <a:t>The server calculates motion. The GUI shows it. Both use the same partition name so the window finds the correct world.</a:t>
            </a:r>
          </a:p>
        </p:txBody>
      </p:sp>
    </p:spTree>
    <p:extLst>
      <p:ext uri="{BB962C8B-B14F-4D97-AF65-F5344CB8AC3E}">
        <p14:creationId xmlns:p14="http://schemas.microsoft.com/office/powerpoint/2010/main" val="262734210"/>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C0472C9-32EC-43DE-8353-AB1403031EEB}"/>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launch_sitl_gui.sh: connect the autopilot</a:t>
            </a:r>
          </a:p>
        </p:txBody>
      </p:sp>
      <p:sp>
        <p:nvSpPr>
          <p:cNvPr id="2" name="">
            <a:extLst xmlns:a="http://schemas.openxmlformats.org/drawingml/2006/main">
              <a:ext uri="{FF2B5EF4-FFF2-40B4-BE49-F238E27FC236}">
                <a16:creationId xmlns:a16="http://schemas.microsoft.com/office/drawing/2014/main" id="{DA032C35-4504-4DF8-90F6-C8B383B7AE2A}"/>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8 OF 9</a:t>
            </a:r>
          </a:p>
        </p:txBody>
      </p:sp>
      <p:sp>
        <p:nvSpPr>
          <p:cNvPr id="3" name="">
            <a:extLst xmlns:a="http://schemas.openxmlformats.org/drawingml/2006/main">
              <a:ext uri="{FF2B5EF4-FFF2-40B4-BE49-F238E27FC236}">
                <a16:creationId xmlns:a16="http://schemas.microsoft.com/office/drawing/2014/main" id="{AD892566-0AD2-49BE-8F86-F4F81F9762FF}"/>
              </a:ext>
            </a:extLst>
          </p:cNvPr>
          <p:cNvSpPr>
            <a:spLocks xmlns:a="http://schemas.openxmlformats.org/drawingml/2006/main" noGrp="1"/>
          </p:cNvSpPr>
          <p:nvPr/>
        </p:nvSpPr>
        <p:spPr>
          <a:xfrm xmlns:a="http://schemas.openxmlformats.org/drawingml/2006/main">
            <a:off x="742950" y="1600200"/>
            <a:ext cx="104775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F172A"/>
                </a:solidFill>
              </a:defRPr>
            </a:defPPr>
            <a:lvl1pPr>
              <a:defRPr sz="1725" b="0">
                <a:solidFill>
                  <a:srgbClr val="0F172A"/>
                </a:solidFill>
              </a:defRPr>
            </a:lvl1pPr>
            <a:lvl2pPr>
              <a:defRPr sz="1725" b="0">
                <a:solidFill>
                  <a:srgbClr val="0F172A"/>
                </a:solidFill>
              </a:defRPr>
            </a:lvl2pPr>
            <a:lvl3pPr>
              <a:defRPr sz="1725" b="0">
                <a:solidFill>
                  <a:srgbClr val="0F172A"/>
                </a:solidFill>
              </a:defRPr>
            </a:lvl3pPr>
            <a:lvl4pPr>
              <a:defRPr sz="1725" b="0">
                <a:solidFill>
                  <a:srgbClr val="0F172A"/>
                </a:solidFill>
              </a:defRPr>
            </a:lvl4pPr>
            <a:lvl5pPr>
              <a:defRPr sz="1725" b="0">
                <a:solidFill>
                  <a:srgbClr val="0F172A"/>
                </a:solidFill>
              </a:defRPr>
            </a:lvl5pPr>
            <a:lvl6pPr>
              <a:defRPr sz="1725" b="0">
                <a:solidFill>
                  <a:srgbClr val="0F172A"/>
                </a:solidFill>
              </a:defRPr>
            </a:lvl6pPr>
            <a:lvl7pPr>
              <a:defRPr sz="1725" b="0">
                <a:solidFill>
                  <a:srgbClr val="0F172A"/>
                </a:solidFill>
              </a:defRPr>
            </a:lvl7pPr>
            <a:lvl8pPr>
              <a:defRPr sz="1725" b="0">
                <a:solidFill>
                  <a:srgbClr val="0F172A"/>
                </a:solidFill>
              </a:defRPr>
            </a:lvl8pPr>
            <a:lvl9pPr>
              <a:defRPr sz="1725" b="0">
                <a:solidFill>
                  <a:srgbClr val="0F172A"/>
                </a:solidFill>
              </a:defRPr>
            </a:lvl9pPr>
          </a:lstStyle>
          <a:p xmlns:a="http://schemas.openxmlformats.org/drawingml/2006/main">
            <a:pPr>
              <a:defRPr sz="1725" b="0">
                <a:solidFill>
                  <a:srgbClr val="0F172A"/>
                </a:solidFill>
              </a:defRPr>
            </a:pPr>
            <a:r>
              <a:rPr sz="1725" b="0">
                <a:solidFill>
                  <a:srgbClr val="0F172A"/>
                </a:solidFill>
              </a:rPr>
              <a:t>Layout name sets the frame and parameter file.</a:t>
            </a:r>
          </a:p>
          <a:p xmlns:a="http://schemas.openxmlformats.org/drawingml/2006/main">
            <a:r>
              <a:t/>
            </a:r>
          </a:p>
          <a:p xmlns:a="http://schemas.openxmlformats.org/drawingml/2006/main">
            <a:pPr>
              <a:defRPr sz="1725" b="0">
                <a:solidFill>
                  <a:srgbClr val="0F172A"/>
                </a:solidFill>
              </a:defRPr>
            </a:pPr>
            <a:r>
              <a:rPr sz="1725" b="0">
                <a:solidFill>
                  <a:srgbClr val="0F172A"/>
                </a:solidFill>
              </a:rPr>
              <a:t>--model JSON connects SITL to external physics.</a:t>
            </a:r>
          </a:p>
          <a:p xmlns:a="http://schemas.openxmlformats.org/drawingml/2006/main">
            <a:pPr>
              <a:defRPr sz="1725" b="0">
                <a:solidFill>
                  <a:srgbClr val="0F172A"/>
                </a:solidFill>
              </a:defRPr>
            </a:pPr>
            <a:r>
              <a:rPr sz="1725" b="0">
                <a:solidFill>
                  <a:srgbClr val="0F172A"/>
                </a:solidFill>
              </a:rPr>
              <a:t>-I1 uses the matching Gazebo connector port.</a:t>
            </a:r>
          </a:p>
          <a:p xmlns:a="http://schemas.openxmlformats.org/drawingml/2006/main">
            <a:pPr>
              <a:defRPr sz="1725" b="0">
                <a:solidFill>
                  <a:srgbClr val="0F172A"/>
                </a:solidFill>
              </a:defRPr>
            </a:pPr>
            <a:r>
              <a:rPr sz="1725" b="0">
                <a:solidFill>
                  <a:srgbClr val="0F172A"/>
                </a:solidFill>
              </a:rPr>
              <a:t>--sysid 2 marks the vehicle in QGroundControl.</a:t>
            </a:r>
          </a:p>
          <a:p xmlns:a="http://schemas.openxmlformats.org/drawingml/2006/main">
            <a:pPr>
              <a:defRPr sz="1725" b="0">
                <a:solidFill>
                  <a:srgbClr val="0F172A"/>
                </a:solidFill>
              </a:defRPr>
            </a:pPr>
            <a:r>
              <a:rPr sz="1725" b="0">
                <a:solidFill>
                  <a:srgbClr val="0F172A"/>
                </a:solidFill>
              </a:rPr>
              <a:t>--out 127.0.0.1:14660 sends MAVLink to QGroundControl.</a:t>
            </a:r>
          </a:p>
          <a:p xmlns:a="http://schemas.openxmlformats.org/drawingml/2006/main">
            <a:pPr>
              <a:defRPr sz="1725" b="0">
                <a:solidFill>
                  <a:srgbClr val="0F172A"/>
                </a:solidFill>
              </a:defRPr>
            </a:pPr>
            <a:r>
              <a:rPr sz="1725" b="0">
                <a:solidFill>
                  <a:srgbClr val="0F172A"/>
                </a:solidFill>
              </a:rPr>
              <a:t>--use-dir keeps each layout’s logs separate.</a:t>
            </a:r>
          </a:p>
        </p:txBody>
      </p:sp>
    </p:spTree>
    <p:extLst>
      <p:ext uri="{BB962C8B-B14F-4D97-AF65-F5344CB8AC3E}">
        <p14:creationId xmlns:p14="http://schemas.microsoft.com/office/powerpoint/2010/main" val="1050730407"/>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2DC44B-A89D-4F3B-B2DA-23A2E450185A}"/>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Beaumont helper: an earlier experiment</a:t>
            </a:r>
          </a:p>
        </p:txBody>
      </p:sp>
      <p:sp>
        <p:nvSpPr>
          <p:cNvPr id="2" name="">
            <a:extLst xmlns:a="http://schemas.openxmlformats.org/drawingml/2006/main">
              <a:ext uri="{FF2B5EF4-FFF2-40B4-BE49-F238E27FC236}">
                <a16:creationId xmlns:a16="http://schemas.microsoft.com/office/drawing/2014/main" id="{6A2EEEF8-1DA5-4D6B-85F5-C65D2F510C84}"/>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FILE 9 OF 9</a:t>
            </a:r>
          </a:p>
        </p:txBody>
      </p:sp>
      <p:sp>
        <p:nvSpPr>
          <p:cNvPr id="3" name="">
            <a:extLst xmlns:a="http://schemas.openxmlformats.org/drawingml/2006/main">
              <a:ext uri="{FF2B5EF4-FFF2-40B4-BE49-F238E27FC236}">
                <a16:creationId xmlns:a16="http://schemas.microsoft.com/office/drawing/2014/main" id="{722CEB48-1872-457A-9341-7E8A6EA8B34C}"/>
              </a:ext>
            </a:extLst>
          </p:cNvPr>
          <p:cNvSpPr>
            <a:spLocks xmlns:a="http://schemas.openxmlformats.org/drawingml/2006/main" noGrp="1"/>
          </p:cNvSpPr>
          <p:nvPr/>
        </p:nvSpPr>
        <p:spPr>
          <a:xfrm xmlns:a="http://schemas.openxmlformats.org/drawingml/2006/main">
            <a:off x="666750"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What it did</a:t>
            </a:r>
          </a:p>
        </p:txBody>
      </p:sp>
      <p:sp>
        <p:nvSpPr>
          <p:cNvPr id="4" name="">
            <a:extLst xmlns:a="http://schemas.openxmlformats.org/drawingml/2006/main">
              <a:ext uri="{FF2B5EF4-FFF2-40B4-BE49-F238E27FC236}">
                <a16:creationId xmlns:a16="http://schemas.microsoft.com/office/drawing/2014/main" id="{CF6A30FF-AF97-471A-83EC-B7EE65AF828D}"/>
              </a:ext>
            </a:extLst>
          </p:cNvPr>
          <p:cNvSpPr>
            <a:spLocks xmlns:a="http://schemas.openxmlformats.org/drawingml/2006/main" noGrp="1"/>
          </p:cNvSpPr>
          <p:nvPr/>
        </p:nvSpPr>
        <p:spPr>
          <a:xfrm xmlns:a="http://schemas.openxmlformats.org/drawingml/2006/main">
            <a:off x="6429375" y="15621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F766E"/>
                </a:solidFill>
              </a:defRPr>
            </a:defPPr>
            <a:lvl1pPr>
              <a:defRPr sz="1800" b="1">
                <a:solidFill>
                  <a:srgbClr val="0F766E"/>
                </a:solidFill>
              </a:defRPr>
            </a:lvl1pPr>
            <a:lvl2pPr>
              <a:defRPr sz="1800" b="1">
                <a:solidFill>
                  <a:srgbClr val="0F766E"/>
                </a:solidFill>
              </a:defRPr>
            </a:lvl2pPr>
            <a:lvl3pPr>
              <a:defRPr sz="1800" b="1">
                <a:solidFill>
                  <a:srgbClr val="0F766E"/>
                </a:solidFill>
              </a:defRPr>
            </a:lvl3pPr>
            <a:lvl4pPr>
              <a:defRPr sz="1800" b="1">
                <a:solidFill>
                  <a:srgbClr val="0F766E"/>
                </a:solidFill>
              </a:defRPr>
            </a:lvl4pPr>
            <a:lvl5pPr>
              <a:defRPr sz="1800" b="1">
                <a:solidFill>
                  <a:srgbClr val="0F766E"/>
                </a:solidFill>
              </a:defRPr>
            </a:lvl5pPr>
            <a:lvl6pPr>
              <a:defRPr sz="1800" b="1">
                <a:solidFill>
                  <a:srgbClr val="0F766E"/>
                </a:solidFill>
              </a:defRPr>
            </a:lvl6pPr>
            <a:lvl7pPr>
              <a:defRPr sz="1800" b="1">
                <a:solidFill>
                  <a:srgbClr val="0F766E"/>
                </a:solidFill>
              </a:defRPr>
            </a:lvl7pPr>
            <a:lvl8pPr>
              <a:defRPr sz="1800" b="1">
                <a:solidFill>
                  <a:srgbClr val="0F766E"/>
                </a:solidFill>
              </a:defRPr>
            </a:lvl8pPr>
            <a:lvl9pPr>
              <a:defRPr sz="1800" b="1">
                <a:solidFill>
                  <a:srgbClr val="0F766E"/>
                </a:solidFill>
              </a:defRPr>
            </a:lvl9pPr>
          </a:lstStyle>
          <a:p xmlns:a="http://schemas.openxmlformats.org/drawingml/2006/main">
            <a:pPr>
              <a:defRPr sz="1800" b="1">
                <a:solidFill>
                  <a:srgbClr val="0F766E"/>
                </a:solidFill>
              </a:defRPr>
            </a:pPr>
            <a:r>
              <a:rPr sz="1800" b="1">
                <a:solidFill>
                  <a:srgbClr val="0F766E"/>
                </a:solidFill>
              </a:rPr>
              <a:t>Current package decision</a:t>
            </a:r>
          </a:p>
        </p:txBody>
      </p:sp>
      <p:sp>
        <p:nvSpPr>
          <p:cNvPr id="5" name="">
            <a:extLst xmlns:a="http://schemas.openxmlformats.org/drawingml/2006/main">
              <a:ext uri="{FF2B5EF4-FFF2-40B4-BE49-F238E27FC236}">
                <a16:creationId xmlns:a16="http://schemas.microsoft.com/office/drawing/2014/main" id="{B92205BD-A984-4569-B9EE-EABD1206731D}"/>
              </a:ext>
            </a:extLst>
          </p:cNvPr>
          <p:cNvSpPr>
            <a:spLocks xmlns:a="http://schemas.openxmlformats.org/drawingml/2006/main" noGrp="1"/>
          </p:cNvSpPr>
          <p:nvPr/>
        </p:nvSpPr>
        <p:spPr>
          <a:xfrm xmlns:a="http://schemas.openxmlformats.org/drawingml/2006/main">
            <a:off x="666750"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Copied Beaumont into an isolated test</a:t>
            </a:r>
          </a:p>
          <a:p xmlns:a="http://schemas.openxmlformats.org/drawingml/2006/main">
            <a:pPr>
              <a:defRPr sz="1650" b="0">
                <a:solidFill>
                  <a:srgbClr val="0F172A"/>
                </a:solidFill>
              </a:defRPr>
            </a:pPr>
            <a:r>
              <a:rPr sz="1650" b="0">
                <a:solidFill>
                  <a:srgbClr val="0F172A"/>
                </a:solidFill>
              </a:rPr>
              <a:t>Added eight connector channels</a:t>
            </a:r>
          </a:p>
          <a:p xmlns:a="http://schemas.openxmlformats.org/drawingml/2006/main">
            <a:pPr>
              <a:defRPr sz="1650" b="0">
                <a:solidFill>
                  <a:srgbClr val="0F172A"/>
                </a:solidFill>
              </a:defRPr>
            </a:pPr>
            <a:r>
              <a:rPr sz="1650" b="0">
                <a:solidFill>
                  <a:srgbClr val="0F172A"/>
                </a:solidFill>
              </a:rPr>
              <a:t>Corrected the IMU topic for the test</a:t>
            </a:r>
          </a:p>
        </p:txBody>
      </p:sp>
      <p:sp>
        <p:nvSpPr>
          <p:cNvPr id="6" name="">
            <a:extLst xmlns:a="http://schemas.openxmlformats.org/drawingml/2006/main">
              <a:ext uri="{FF2B5EF4-FFF2-40B4-BE49-F238E27FC236}">
                <a16:creationId xmlns:a16="http://schemas.microsoft.com/office/drawing/2014/main" id="{23A1AD52-ADA9-4D97-A637-D7B0C33F60A8}"/>
              </a:ext>
            </a:extLst>
          </p:cNvPr>
          <p:cNvSpPr>
            <a:spLocks xmlns:a="http://schemas.openxmlformats.org/drawingml/2006/main" noGrp="1"/>
          </p:cNvSpPr>
          <p:nvPr/>
        </p:nvSpPr>
        <p:spPr>
          <a:xfrm xmlns:a="http://schemas.openxmlformats.org/drawingml/2006/main">
            <a:off x="6429375" y="1981200"/>
            <a:ext cx="509587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0F172A"/>
                </a:solidFill>
              </a:defRPr>
            </a:defPPr>
            <a:lvl1pPr>
              <a:defRPr sz="1650" b="0">
                <a:solidFill>
                  <a:srgbClr val="0F172A"/>
                </a:solidFill>
              </a:defRPr>
            </a:lvl1pPr>
            <a:lvl2pPr>
              <a:defRPr sz="1650" b="0">
                <a:solidFill>
                  <a:srgbClr val="0F172A"/>
                </a:solidFill>
              </a:defRPr>
            </a:lvl2pPr>
            <a:lvl3pPr>
              <a:defRPr sz="1650" b="0">
                <a:solidFill>
                  <a:srgbClr val="0F172A"/>
                </a:solidFill>
              </a:defRPr>
            </a:lvl3pPr>
            <a:lvl4pPr>
              <a:defRPr sz="1650" b="0">
                <a:solidFill>
                  <a:srgbClr val="0F172A"/>
                </a:solidFill>
              </a:defRPr>
            </a:lvl4pPr>
            <a:lvl5pPr>
              <a:defRPr sz="1650" b="0">
                <a:solidFill>
                  <a:srgbClr val="0F172A"/>
                </a:solidFill>
              </a:defRPr>
            </a:lvl5pPr>
            <a:lvl6pPr>
              <a:defRPr sz="1650" b="0">
                <a:solidFill>
                  <a:srgbClr val="0F172A"/>
                </a:solidFill>
              </a:defRPr>
            </a:lvl6pPr>
            <a:lvl7pPr>
              <a:defRPr sz="1650" b="0">
                <a:solidFill>
                  <a:srgbClr val="0F172A"/>
                </a:solidFill>
              </a:defRPr>
            </a:lvl7pPr>
            <a:lvl8pPr>
              <a:defRPr sz="1650" b="0">
                <a:solidFill>
                  <a:srgbClr val="0F172A"/>
                </a:solidFill>
              </a:defRPr>
            </a:lvl8pPr>
            <a:lvl9pPr>
              <a:defRPr sz="1650" b="0">
                <a:solidFill>
                  <a:srgbClr val="0F172A"/>
                </a:solidFill>
              </a:defRPr>
            </a:lvl9pPr>
          </a:lstStyle>
          <a:p xmlns:a="http://schemas.openxmlformats.org/drawingml/2006/main">
            <a:pPr>
              <a:defRPr sz="1650" b="0">
                <a:solidFill>
                  <a:srgbClr val="0F172A"/>
                </a:solidFill>
              </a:defRPr>
            </a:pPr>
            <a:r>
              <a:rPr sz="1650" b="0">
                <a:solidFill>
                  <a:srgbClr val="0F172A"/>
                </a:solidFill>
              </a:rPr>
              <a:t>The BlueROV generator replaces this route.</a:t>
            </a:r>
          </a:p>
          <a:p xmlns:a="http://schemas.openxmlformats.org/drawingml/2006/main">
            <a:r>
              <a:t/>
            </a:r>
          </a:p>
          <a:p xmlns:a="http://schemas.openxmlformats.org/drawingml/2006/main">
            <a:pPr>
              <a:defRPr sz="1650" b="0">
                <a:solidFill>
                  <a:srgbClr val="0F172A"/>
                </a:solidFill>
              </a:defRPr>
            </a:pPr>
            <a:r>
              <a:rPr sz="1650" b="0">
                <a:solidFill>
                  <a:srgbClr val="0F172A"/>
                </a:solidFill>
              </a:rPr>
              <a:t>No current setup script calls the helper.</a:t>
            </a:r>
          </a:p>
          <a:p xmlns:a="http://schemas.openxmlformats.org/drawingml/2006/main">
            <a:r>
              <a:t/>
            </a:r>
          </a:p>
          <a:p xmlns:a="http://schemas.openxmlformats.org/drawingml/2006/main">
            <a:pPr>
              <a:defRPr sz="1650" b="0">
                <a:solidFill>
                  <a:srgbClr val="0F172A"/>
                </a:solidFill>
              </a:defRPr>
            </a:pPr>
            <a:r>
              <a:rPr sz="1650" b="0">
                <a:solidFill>
                  <a:srgbClr val="0F172A"/>
                </a:solidFill>
              </a:rPr>
              <a:t>Safe to unstage if historical replay is unnecessary.</a:t>
            </a:r>
          </a:p>
        </p:txBody>
      </p:sp>
    </p:spTree>
    <p:extLst>
      <p:ext uri="{BB962C8B-B14F-4D97-AF65-F5344CB8AC3E}">
        <p14:creationId xmlns:p14="http://schemas.microsoft.com/office/powerpoint/2010/main" val="1828890807"/>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956B5F6-883D-4E25-969F-9088EF02923A}"/>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One BlueROV2 trial, start to finish</a:t>
            </a:r>
          </a:p>
        </p:txBody>
      </p:sp>
      <p:sp>
        <p:nvSpPr>
          <p:cNvPr id="2" name="">
            <a:extLst xmlns:a="http://schemas.openxmlformats.org/drawingml/2006/main">
              <a:ext uri="{FF2B5EF4-FFF2-40B4-BE49-F238E27FC236}">
                <a16:creationId xmlns:a16="http://schemas.microsoft.com/office/drawing/2014/main" id="{215D6A04-EE76-4670-AE93-DB5AC0A12AC6}"/>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OPERATING SEQUENCE</a:t>
            </a:r>
          </a:p>
        </p:txBody>
      </p:sp>
      <p:sp>
        <p:nvSpPr>
          <p:cNvPr id="3" name="">
            <a:extLst xmlns:a="http://schemas.openxmlformats.org/drawingml/2006/main">
              <a:ext uri="{FF2B5EF4-FFF2-40B4-BE49-F238E27FC236}">
                <a16:creationId xmlns:a16="http://schemas.microsoft.com/office/drawing/2014/main" id="{5C30ADB8-0652-418B-AC8B-43A6497DC06E}"/>
              </a:ext>
            </a:extLst>
          </p:cNvPr>
          <p:cNvSpPr>
            <a:spLocks xmlns:a="http://schemas.openxmlformats.org/drawingml/2006/main" noGrp="1"/>
          </p:cNvSpPr>
          <p:nvPr/>
        </p:nvSpPr>
        <p:spPr>
          <a:xfrm xmlns:a="http://schemas.openxmlformats.org/drawingml/2006/main">
            <a:off x="742950" y="1562100"/>
            <a:ext cx="10572750"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0F172A"/>
                </a:solidFill>
              </a:defRPr>
            </a:defPPr>
            <a:lvl1pPr>
              <a:defRPr sz="1875" b="0">
                <a:solidFill>
                  <a:srgbClr val="0F172A"/>
                </a:solidFill>
              </a:defRPr>
            </a:lvl1pPr>
            <a:lvl2pPr>
              <a:defRPr sz="1875" b="0">
                <a:solidFill>
                  <a:srgbClr val="0F172A"/>
                </a:solidFill>
              </a:defRPr>
            </a:lvl2pPr>
            <a:lvl3pPr>
              <a:defRPr sz="1875" b="0">
                <a:solidFill>
                  <a:srgbClr val="0F172A"/>
                </a:solidFill>
              </a:defRPr>
            </a:lvl3pPr>
            <a:lvl4pPr>
              <a:defRPr sz="1875" b="0">
                <a:solidFill>
                  <a:srgbClr val="0F172A"/>
                </a:solidFill>
              </a:defRPr>
            </a:lvl4pPr>
            <a:lvl5pPr>
              <a:defRPr sz="1875" b="0">
                <a:solidFill>
                  <a:srgbClr val="0F172A"/>
                </a:solidFill>
              </a:defRPr>
            </a:lvl5pPr>
            <a:lvl6pPr>
              <a:defRPr sz="1875" b="0">
                <a:solidFill>
                  <a:srgbClr val="0F172A"/>
                </a:solidFill>
              </a:defRPr>
            </a:lvl6pPr>
            <a:lvl7pPr>
              <a:defRPr sz="1875" b="0">
                <a:solidFill>
                  <a:srgbClr val="0F172A"/>
                </a:solidFill>
              </a:defRPr>
            </a:lvl7pPr>
            <a:lvl8pPr>
              <a:defRPr sz="1875" b="0">
                <a:solidFill>
                  <a:srgbClr val="0F172A"/>
                </a:solidFill>
              </a:defRPr>
            </a:lvl8pPr>
            <a:lvl9pPr>
              <a:defRPr sz="1875" b="0">
                <a:solidFill>
                  <a:srgbClr val="0F172A"/>
                </a:solidFill>
              </a:defRPr>
            </a:lvl9pPr>
          </a:lstStyle>
          <a:p xmlns:a="http://schemas.openxmlformats.org/drawingml/2006/main">
            <a:pPr>
              <a:defRPr sz="1875" b="0">
                <a:solidFill>
                  <a:srgbClr val="0F172A"/>
                </a:solidFill>
              </a:defRPr>
            </a:pPr>
            <a:r>
              <a:rPr sz="1875" b="0">
                <a:solidFill>
                  <a:srgbClr val="0F172A"/>
                </a:solidFill>
              </a:rPr>
              <a:t>1  Build ArduSub SITL</a:t>
            </a:r>
          </a:p>
          <a:p xmlns:a="http://schemas.openxmlformats.org/drawingml/2006/main">
            <a:pPr>
              <a:defRPr sz="1875" b="0">
                <a:solidFill>
                  <a:srgbClr val="0F172A"/>
                </a:solidFill>
              </a:defRPr>
            </a:pPr>
            <a:r>
              <a:rPr sz="1875" b="0">
                <a:solidFill>
                  <a:srgbClr val="0F172A"/>
                </a:solidFill>
              </a:rPr>
              <a:t>2  On a fresh checkout, run prepare_mac.sh</a:t>
            </a:r>
          </a:p>
          <a:p xmlns:a="http://schemas.openxmlformats.org/drawingml/2006/main">
            <a:pPr>
              <a:defRPr sz="1875" b="0">
                <a:solidFill>
                  <a:srgbClr val="0F172A"/>
                </a:solidFill>
              </a:defRPr>
            </a:pPr>
            <a:r>
              <a:rPr sz="1875" b="0">
                <a:solidFill>
                  <a:srgbClr val="0F172A"/>
                </a:solidFill>
              </a:rPr>
              <a:t>3  Start Gazebo server, then its window</a:t>
            </a:r>
          </a:p>
          <a:p xmlns:a="http://schemas.openxmlformats.org/drawingml/2006/main">
            <a:pPr>
              <a:defRPr sz="1875" b="0">
                <a:solidFill>
                  <a:srgbClr val="0F172A"/>
                </a:solidFill>
              </a:defRPr>
            </a:pPr>
            <a:r>
              <a:rPr sz="1875" b="0">
                <a:solidFill>
                  <a:srgbClr val="0F172A"/>
                </a:solidFill>
              </a:rPr>
              <a:t>4  Launch ArduSub SITL and connect QGroundControl</a:t>
            </a:r>
          </a:p>
          <a:p xmlns:a="http://schemas.openxmlformats.org/drawingml/2006/main">
            <a:pPr>
              <a:defRPr sz="1875" b="0">
                <a:solidFill>
                  <a:srgbClr val="0F172A"/>
                </a:solidFill>
              </a:defRPr>
            </a:pPr>
            <a:r>
              <a:rPr sz="1875" b="0">
                <a:solidFill>
                  <a:srgbClr val="0F172A"/>
                </a:solidFill>
              </a:rPr>
              <a:t>5  Move one control briefly; save both data streams</a:t>
            </a:r>
          </a:p>
          <a:p xmlns:a="http://schemas.openxmlformats.org/drawingml/2006/main">
            <a:pPr>
              <a:defRPr sz="1875" b="0">
                <a:solidFill>
                  <a:srgbClr val="0F172A"/>
                </a:solidFill>
              </a:defRPr>
            </a:pPr>
            <a:r>
              <a:rPr sz="1875" b="0">
                <a:solidFill>
                  <a:srgbClr val="0F172A"/>
                </a:solidFill>
              </a:rPr>
              <a:t>6  Repeat the same trial for the other layouts</a:t>
            </a:r>
          </a:p>
        </p:txBody>
      </p:sp>
    </p:spTree>
    <p:extLst>
      <p:ext uri="{BB962C8B-B14F-4D97-AF65-F5344CB8AC3E}">
        <p14:creationId xmlns:p14="http://schemas.microsoft.com/office/powerpoint/2010/main" val="866164415"/>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A24A73C-A261-419D-8805-F3B48296215A}"/>
              </a:ext>
            </a:extLst>
          </p:cNvPr>
          <p:cNvSpPr>
            <a:spLocks xmlns:a="http://schemas.openxmlformats.org/drawingml/2006/main" noGrp="1"/>
          </p:cNvSpPr>
          <p:nvPr/>
        </p:nvSpPr>
        <p:spPr>
          <a:xfrm xmlns:a="http://schemas.openxmlformats.org/drawingml/2006/main">
            <a:off x="628650" y="400050"/>
            <a:ext cx="10934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F172A"/>
                </a:solidFill>
              </a:defRPr>
            </a:defPPr>
            <a:lvl1pPr>
              <a:defRPr sz="2625" b="1">
                <a:solidFill>
                  <a:srgbClr val="0F172A"/>
                </a:solidFill>
              </a:defRPr>
            </a:lvl1pPr>
            <a:lvl2pPr>
              <a:defRPr sz="2625" b="1">
                <a:solidFill>
                  <a:srgbClr val="0F172A"/>
                </a:solidFill>
              </a:defRPr>
            </a:lvl2pPr>
            <a:lvl3pPr>
              <a:defRPr sz="2625" b="1">
                <a:solidFill>
                  <a:srgbClr val="0F172A"/>
                </a:solidFill>
              </a:defRPr>
            </a:lvl3pPr>
            <a:lvl4pPr>
              <a:defRPr sz="2625" b="1">
                <a:solidFill>
                  <a:srgbClr val="0F172A"/>
                </a:solidFill>
              </a:defRPr>
            </a:lvl4pPr>
            <a:lvl5pPr>
              <a:defRPr sz="2625" b="1">
                <a:solidFill>
                  <a:srgbClr val="0F172A"/>
                </a:solidFill>
              </a:defRPr>
            </a:lvl5pPr>
            <a:lvl6pPr>
              <a:defRPr sz="2625" b="1">
                <a:solidFill>
                  <a:srgbClr val="0F172A"/>
                </a:solidFill>
              </a:defRPr>
            </a:lvl6pPr>
            <a:lvl7pPr>
              <a:defRPr sz="2625" b="1">
                <a:solidFill>
                  <a:srgbClr val="0F172A"/>
                </a:solidFill>
              </a:defRPr>
            </a:lvl7pPr>
            <a:lvl8pPr>
              <a:defRPr sz="2625" b="1">
                <a:solidFill>
                  <a:srgbClr val="0F172A"/>
                </a:solidFill>
              </a:defRPr>
            </a:lvl8pPr>
            <a:lvl9pPr>
              <a:defRPr sz="2625" b="1">
                <a:solidFill>
                  <a:srgbClr val="0F172A"/>
                </a:solidFill>
              </a:defRPr>
            </a:lvl9pPr>
          </a:lstStyle>
          <a:p xmlns:a="http://schemas.openxmlformats.org/drawingml/2006/main">
            <a:pPr>
              <a:defRPr sz="2625" b="1">
                <a:solidFill>
                  <a:srgbClr val="0F172A"/>
                </a:solidFill>
              </a:defRPr>
            </a:pPr>
            <a:r>
              <a:rPr sz="2625" b="1">
                <a:solidFill>
                  <a:srgbClr val="0F172A"/>
                </a:solidFill>
              </a:rPr>
              <a:t>Review findings before using the results</a:t>
            </a:r>
          </a:p>
        </p:txBody>
      </p:sp>
      <p:sp>
        <p:nvSpPr>
          <p:cNvPr id="2" name="">
            <a:extLst xmlns:a="http://schemas.openxmlformats.org/drawingml/2006/main">
              <a:ext uri="{FF2B5EF4-FFF2-40B4-BE49-F238E27FC236}">
                <a16:creationId xmlns:a16="http://schemas.microsoft.com/office/drawing/2014/main" id="{655CFC8C-8DC8-4F70-A26A-766149F366A0}"/>
              </a:ext>
            </a:extLst>
          </p:cNvPr>
          <p:cNvSpPr>
            <a:spLocks xmlns:a="http://schemas.openxmlformats.org/drawingml/2006/main" noGrp="1"/>
          </p:cNvSpPr>
          <p:nvPr/>
        </p:nvSpPr>
        <p:spPr>
          <a:xfrm xmlns:a="http://schemas.openxmlformats.org/drawingml/2006/main">
            <a:off x="647700" y="10477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F766E"/>
                </a:solidFill>
              </a:defRPr>
            </a:defPPr>
            <a:lvl1pPr>
              <a:defRPr sz="1125" b="1">
                <a:solidFill>
                  <a:srgbClr val="0F766E"/>
                </a:solidFill>
              </a:defRPr>
            </a:lvl1pPr>
            <a:lvl2pPr>
              <a:defRPr sz="1125" b="1">
                <a:solidFill>
                  <a:srgbClr val="0F766E"/>
                </a:solidFill>
              </a:defRPr>
            </a:lvl2pPr>
            <a:lvl3pPr>
              <a:defRPr sz="1125" b="1">
                <a:solidFill>
                  <a:srgbClr val="0F766E"/>
                </a:solidFill>
              </a:defRPr>
            </a:lvl3pPr>
            <a:lvl4pPr>
              <a:defRPr sz="1125" b="1">
                <a:solidFill>
                  <a:srgbClr val="0F766E"/>
                </a:solidFill>
              </a:defRPr>
            </a:lvl4pPr>
            <a:lvl5pPr>
              <a:defRPr sz="1125" b="1">
                <a:solidFill>
                  <a:srgbClr val="0F766E"/>
                </a:solidFill>
              </a:defRPr>
            </a:lvl5pPr>
            <a:lvl6pPr>
              <a:defRPr sz="1125" b="1">
                <a:solidFill>
                  <a:srgbClr val="0F766E"/>
                </a:solidFill>
              </a:defRPr>
            </a:lvl6pPr>
            <a:lvl7pPr>
              <a:defRPr sz="1125" b="1">
                <a:solidFill>
                  <a:srgbClr val="0F766E"/>
                </a:solidFill>
              </a:defRPr>
            </a:lvl7pPr>
            <a:lvl8pPr>
              <a:defRPr sz="1125" b="1">
                <a:solidFill>
                  <a:srgbClr val="0F766E"/>
                </a:solidFill>
              </a:defRPr>
            </a:lvl8pPr>
            <a:lvl9pPr>
              <a:defRPr sz="1125" b="1">
                <a:solidFill>
                  <a:srgbClr val="0F766E"/>
                </a:solidFill>
              </a:defRPr>
            </a:lvl9pPr>
          </a:lstStyle>
          <a:p xmlns:a="http://schemas.openxmlformats.org/drawingml/2006/main">
            <a:pPr>
              <a:defRPr sz="1125" b="1">
                <a:solidFill>
                  <a:srgbClr val="0F766E"/>
                </a:solidFill>
              </a:defRPr>
            </a:pPr>
            <a:r>
              <a:rPr sz="1125" b="1">
                <a:solidFill>
                  <a:srgbClr val="0F766E"/>
                </a:solidFill>
              </a:rPr>
              <a:t>CODE REVIEW SUMMARY</a:t>
            </a:r>
          </a:p>
        </p:txBody>
      </p:sp>
      <p:sp>
        <p:nvSpPr>
          <p:cNvPr id="3" name="">
            <a:extLst xmlns:a="http://schemas.openxmlformats.org/drawingml/2006/main">
              <a:ext uri="{FF2B5EF4-FFF2-40B4-BE49-F238E27FC236}">
                <a16:creationId xmlns:a16="http://schemas.microsoft.com/office/drawing/2014/main" id="{CC8867C5-3B9C-45EC-BEA3-8ECFEC97A805}"/>
              </a:ext>
            </a:extLst>
          </p:cNvPr>
          <p:cNvSpPr>
            <a:spLocks xmlns:a="http://schemas.openxmlformats.org/drawingml/2006/main" noGrp="1"/>
          </p:cNvSpPr>
          <p:nvPr/>
        </p:nvSpPr>
        <p:spPr>
          <a:xfrm xmlns:a="http://schemas.openxmlformats.org/drawingml/2006/main">
            <a:off x="742950" y="1552575"/>
            <a:ext cx="10572750" cy="423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F172A"/>
                </a:solidFill>
              </a:defRPr>
            </a:defPPr>
            <a:lvl1pPr>
              <a:defRPr sz="1725" b="0">
                <a:solidFill>
                  <a:srgbClr val="0F172A"/>
                </a:solidFill>
              </a:defRPr>
            </a:lvl1pPr>
            <a:lvl2pPr>
              <a:defRPr sz="1725" b="0">
                <a:solidFill>
                  <a:srgbClr val="0F172A"/>
                </a:solidFill>
              </a:defRPr>
            </a:lvl2pPr>
            <a:lvl3pPr>
              <a:defRPr sz="1725" b="0">
                <a:solidFill>
                  <a:srgbClr val="0F172A"/>
                </a:solidFill>
              </a:defRPr>
            </a:lvl3pPr>
            <a:lvl4pPr>
              <a:defRPr sz="1725" b="0">
                <a:solidFill>
                  <a:srgbClr val="0F172A"/>
                </a:solidFill>
              </a:defRPr>
            </a:lvl4pPr>
            <a:lvl5pPr>
              <a:defRPr sz="1725" b="0">
                <a:solidFill>
                  <a:srgbClr val="0F172A"/>
                </a:solidFill>
              </a:defRPr>
            </a:lvl5pPr>
            <a:lvl6pPr>
              <a:defRPr sz="1725" b="0">
                <a:solidFill>
                  <a:srgbClr val="0F172A"/>
                </a:solidFill>
              </a:defRPr>
            </a:lvl6pPr>
            <a:lvl7pPr>
              <a:defRPr sz="1725" b="0">
                <a:solidFill>
                  <a:srgbClr val="0F172A"/>
                </a:solidFill>
              </a:defRPr>
            </a:lvl7pPr>
            <a:lvl8pPr>
              <a:defRPr sz="1725" b="0">
                <a:solidFill>
                  <a:srgbClr val="0F172A"/>
                </a:solidFill>
              </a:defRPr>
            </a:lvl8pPr>
            <a:lvl9pPr>
              <a:defRPr sz="1725" b="0">
                <a:solidFill>
                  <a:srgbClr val="0F172A"/>
                </a:solidFill>
              </a:defRPr>
            </a:lvl9pPr>
          </a:lstStyle>
          <a:p xmlns:a="http://schemas.openxmlformats.org/drawingml/2006/main">
            <a:pPr>
              <a:defRPr sz="1725" b="0">
                <a:solidFill>
                  <a:srgbClr val="0F172A"/>
                </a:solidFill>
              </a:defRPr>
            </a:pPr>
            <a:r>
              <a:rPr sz="1725" b="0">
                <a:solidFill>
                  <a:srgbClr val="0F172A"/>
                </a:solidFill>
              </a:rPr>
              <a:t>Keep: the generator, verifier, launchers, both required patches, and .gitignore.</a:t>
            </a:r>
          </a:p>
          <a:p xmlns:a="http://schemas.openxmlformats.org/drawingml/2006/main">
            <a:r>
              <a:t/>
            </a:r>
          </a:p>
          <a:p xmlns:a="http://schemas.openxmlformats.org/drawingml/2006/main">
            <a:pPr>
              <a:defRPr sz="1725" b="0">
                <a:solidFill>
                  <a:srgbClr val="0F172A"/>
                </a:solidFill>
              </a:defRPr>
            </a:pPr>
            <a:r>
              <a:rPr sz="1725" b="0">
                <a:solidFill>
                  <a:srgbClr val="0F172A"/>
                </a:solidFill>
              </a:rPr>
              <a:t>Consider unstaging: the Beaumont copy helper.</a:t>
            </a:r>
          </a:p>
          <a:p xmlns:a="http://schemas.openxmlformats.org/drawingml/2006/main">
            <a:r>
              <a:t/>
            </a:r>
          </a:p>
          <a:p xmlns:a="http://schemas.openxmlformats.org/drawingml/2006/main">
            <a:pPr>
              <a:defRPr sz="1725" b="0">
                <a:solidFill>
                  <a:srgbClr val="0F172A"/>
                </a:solidFill>
              </a:defRPr>
            </a:pPr>
            <a:r>
              <a:rPr sz="1725" b="0">
                <a:solidFill>
                  <a:srgbClr val="0F172A"/>
                </a:solidFill>
              </a:rPr>
              <a:t>Before comparing frames: run one-motor and one-axis checks for every layout, record assumptions, and save both SITL and Gazebo data.</a:t>
            </a:r>
          </a:p>
          <a:p xmlns:a="http://schemas.openxmlformats.org/drawingml/2006/main">
            <a:r>
              <a:t/>
            </a:r>
          </a:p>
          <a:p xmlns:a="http://schemas.openxmlformats.org/drawingml/2006/main">
            <a:pPr>
              <a:defRPr sz="1725" b="0">
                <a:solidFill>
                  <a:srgbClr val="0F172A"/>
                </a:solidFill>
              </a:defRPr>
            </a:pPr>
            <a:r>
              <a:rPr sz="1725" b="0">
                <a:solidFill>
                  <a:srgbClr val="0F172A"/>
                </a:solidFill>
              </a:rPr>
              <a:t>Treat rankings as preliminary until real ROV parameters exist.</a:t>
            </a:r>
          </a:p>
        </p:txBody>
      </p:sp>
    </p:spTree>
    <p:extLst>
      <p:ext uri="{BB962C8B-B14F-4D97-AF65-F5344CB8AC3E}">
        <p14:creationId xmlns:p14="http://schemas.microsoft.com/office/powerpoint/2010/main" val="521571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2026-10-24T21:37:14.4810000Z</dcterms:created>
  <dcterms:modified xsi:type="dcterms:W3CDTF">2026-10-24T21:37:14.4810000Z</dcterms:modified>
</coreProperties>
</file>